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68dd915c2614a86" /><Relationship Type="http://schemas.openxmlformats.org/officeDocument/2006/relationships/extended-properties" Target="/docProps/app.xml" Id="R77e44e4ed0ac4814" /><Relationship Type="http://schemas.openxmlformats.org/officeDocument/2006/relationships/officeDocument" Target="/ppt/presentation.xml" Id="Rbd8b604e9fae4f60" /></Relationships>
</file>

<file path=ppt/presentation.xml><?xml version="1.0" encoding="utf-8"?>
<p:presentation xmlns:p="http://schemas.openxmlformats.org/presentationml/2006/main">
  <p:sldMasterIdLst>
    <p:sldMasterId xmlns:r="http://schemas.openxmlformats.org/officeDocument/2006/relationships" id="2147483648" r:id="Rc268f5308f8a4c89"/>
  </p:sldMasterIdLst>
  <p:notesMasterIdLst>
    <p:notesMasterId xmlns:r="http://schemas.openxmlformats.org/officeDocument/2006/relationships" r:id="Ra0bd8bfec9994b36"/>
  </p:notesMasterIdLst>
  <p:sldIdLst>
    <p:sldId xmlns:r="http://schemas.openxmlformats.org/officeDocument/2006/relationships" id="256" r:id="Rea40415031ee487d"/>
    <p:sldId xmlns:r="http://schemas.openxmlformats.org/officeDocument/2006/relationships" id="257" r:id="R1e0e3d211bdf4bd6"/>
    <p:sldId xmlns:r="http://schemas.openxmlformats.org/officeDocument/2006/relationships" id="258" r:id="R1522a6b5dea3443c"/>
    <p:sldId xmlns:r="http://schemas.openxmlformats.org/officeDocument/2006/relationships" id="259" r:id="Rd86e6800a0ce40ee"/>
    <p:sldId xmlns:r="http://schemas.openxmlformats.org/officeDocument/2006/relationships" id="260" r:id="Rd6e8f013747f462e"/>
    <p:sldId xmlns:r="http://schemas.openxmlformats.org/officeDocument/2006/relationships" id="261" r:id="R3bf6d0eace6648b4"/>
    <p:sldId xmlns:r="http://schemas.openxmlformats.org/officeDocument/2006/relationships" id="262" r:id="R821a6fadee3b4b29"/>
    <p:sldId xmlns:r="http://schemas.openxmlformats.org/officeDocument/2006/relationships" id="263" r:id="R5cdeeff17e1f4e82"/>
    <p:sldId xmlns:r="http://schemas.openxmlformats.org/officeDocument/2006/relationships" id="264" r:id="R74028fab730a4ec9"/>
    <p:sldId xmlns:r="http://schemas.openxmlformats.org/officeDocument/2006/relationships" id="265" r:id="R1613c1ec7a624e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1a41748ea84364" /><Relationship Type="http://schemas.openxmlformats.org/officeDocument/2006/relationships/slideMaster" Target="/ppt/slideMasters/slideMaster1.xml" Id="Rc268f5308f8a4c89" /><Relationship Type="http://schemas.openxmlformats.org/officeDocument/2006/relationships/notesMaster" Target="/ppt/notesMasters/notesMaster1.xml" Id="Ra0bd8bfec9994b36" /><Relationship Type="http://schemas.openxmlformats.org/officeDocument/2006/relationships/presProps" Target="/ppt/presProps.xml" Id="R6ed29bda36bd42ca" /><Relationship Type="http://schemas.openxmlformats.org/officeDocument/2006/relationships/tableStyles" Target="/ppt/tableStyles.xml" Id="R04bc5d6615c84553" /><Relationship Type="http://schemas.openxmlformats.org/officeDocument/2006/relationships/slide" Target="/ppt/slides/slide1.xml" Id="Rea40415031ee487d" /><Relationship Type="http://schemas.openxmlformats.org/officeDocument/2006/relationships/slide" Target="/ppt/slides/slide2.xml" Id="R1e0e3d211bdf4bd6" /><Relationship Type="http://schemas.openxmlformats.org/officeDocument/2006/relationships/slide" Target="/ppt/slides/slide3.xml" Id="R1522a6b5dea3443c" /><Relationship Type="http://schemas.openxmlformats.org/officeDocument/2006/relationships/slide" Target="/ppt/slides/slide4.xml" Id="Rd86e6800a0ce40ee" /><Relationship Type="http://schemas.openxmlformats.org/officeDocument/2006/relationships/slide" Target="/ppt/slides/slide5.xml" Id="Rd6e8f013747f462e" /><Relationship Type="http://schemas.openxmlformats.org/officeDocument/2006/relationships/slide" Target="/ppt/slides/slide6.xml" Id="R3bf6d0eace6648b4" /><Relationship Type="http://schemas.openxmlformats.org/officeDocument/2006/relationships/slide" Target="/ppt/slides/slide7.xml" Id="R821a6fadee3b4b29" /><Relationship Type="http://schemas.openxmlformats.org/officeDocument/2006/relationships/slide" Target="/ppt/slides/slide8.xml" Id="R5cdeeff17e1f4e82" /><Relationship Type="http://schemas.openxmlformats.org/officeDocument/2006/relationships/slide" Target="/ppt/slides/slide9.xml" Id="R74028fab730a4ec9" /><Relationship Type="http://schemas.openxmlformats.org/officeDocument/2006/relationships/slide" Target="/ppt/slides/slide10.xml" Id="R1613c1ec7a624e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c0b6ee65484d4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b5dd656ce74fff" /><Relationship Type="http://schemas.openxmlformats.org/officeDocument/2006/relationships/notesMaster" Target="/ppt/notesMasters/notesMaster1.xml" Id="Rddf26123762445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2319ceec51402d" /><Relationship Type="http://schemas.openxmlformats.org/officeDocument/2006/relationships/notesMaster" Target="/ppt/notesMasters/notesMaster1.xml" Id="R492009578fed47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37666137ea4eb0" /><Relationship Type="http://schemas.openxmlformats.org/officeDocument/2006/relationships/notesMaster" Target="/ppt/notesMasters/notesMaster1.xml" Id="R5220651cac954b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8a7af1c02fb74248" /><Relationship Type="http://schemas.openxmlformats.org/officeDocument/2006/relationships/notesMaster" Target="/ppt/notesMasters/notesMaster1.xml" Id="R5bd0be9f74b3468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aa12e0397af4d66" /><Relationship Type="http://schemas.openxmlformats.org/officeDocument/2006/relationships/notesMaster" Target="/ppt/notesMasters/notesMaster1.xml" Id="R8ccd9e5608c348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ac8d1cc9d142a6" /><Relationship Type="http://schemas.openxmlformats.org/officeDocument/2006/relationships/notesMaster" Target="/ppt/notesMasters/notesMaster1.xml" Id="R12a30a00281545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0e290b29de4745" /><Relationship Type="http://schemas.openxmlformats.org/officeDocument/2006/relationships/notesMaster" Target="/ppt/notesMasters/notesMaster1.xml" Id="Rff2204bcf8c14c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706729d21934c03" /><Relationship Type="http://schemas.openxmlformats.org/officeDocument/2006/relationships/notesMaster" Target="/ppt/notesMasters/notesMaster1.xml" Id="Re7aea870467b426a"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1dd76d322d4f37" /><Relationship Type="http://schemas.openxmlformats.org/officeDocument/2006/relationships/notesMaster" Target="/ppt/notesMasters/notesMaster1.xml" Id="R0b45bba3510a43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471f617388340fd" /><Relationship Type="http://schemas.openxmlformats.org/officeDocument/2006/relationships/notesMaster" Target="/ppt/notesMasters/notesMaster1.xml" Id="R75ae3f46b25f40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Recommendations are hypotheses. Sources and rationale appear on the platform evidence slides. This is an analysis of public communications as accessed 5 October 2026, not a product benchmark or proof of a unique market gap.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manual desk review of the listed official pages. Relative emphasis coding is qualitative and not validated measurement. Numeric labels are ordinal codes, not interval scores; distances should not be interpreted quantitatively. A low code means limited visibility in reviewed materials, not absence of a feature. Fari evidence axis uses adapted anchors: 1 no visible clinical evidence link, 2 health/care context or design targets, 3 linked health research, 4 research/results visibly foregrounded, 5 multiple prominently explained evaluations. This is evidence visibility, not medical credibility.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Fari: x=5, y=2. Warm companion language and health design targets. Clinical effectiveness is not established here. Source: https://www.ingendynamics.com/fari.html</a:t>
            </a:r>
          </a:p>
          <a:p xmlns:a="http://schemas.openxmlformats.org/drawingml/2006/main">
            <a:r>
              <a:t>2. ElliQ: x=5, y=4. Companion narrative plus visible research and wellness claims. This records evidence visibility, not study quality. Source: https://elliq.com/</a:t>
            </a:r>
          </a:p>
          <a:p xmlns:a="http://schemas.openxmlformats.org/drawingml/2006/main">
            <a:r>
              <a:t>3. Joy for All: x=4, y=3. Comforting pet interaction and a linked quality-of-life research source. Source: https://joyforall.com/</a:t>
            </a:r>
          </a:p>
          <a:p xmlns:a="http://schemas.openxmlformats.org/drawingml/2006/main">
            <a:r>
              <a:t>4. LOVOT: x=5, y=1. Affection and comfort lead the reviewed page. Limited visible clinical substantiation there. Source: https://lovot.life/en/</a:t>
            </a:r>
          </a:p>
          <a:p xmlns:a="http://schemas.openxmlformats.org/drawingml/2006/main">
            <a:r>
              <a:t>5. Sony aibo: x=4, y=1. Warmth, play and relationships lead. Medical benefits are not central to the reviewed page. Source: https://us.aibo.com/</a:t>
            </a:r>
          </a:p>
          <a:p xmlns:a="http://schemas.openxmlformats.org/drawingml/2006/main">
            <a:r>
              <a:t>6. temi: x=2, y=2. Service efficiency and healthcare context lead. The reviewed page does not establish clinical benefit. Source: https://www.robotemi.com/</a:t>
            </a:r>
          </a:p>
          <a:p xmlns:a="http://schemas.openxmlformats.org/drawingml/2006/main">
            <a:r>
              <a:t>Warmth is already common. ElliQ and Joy for All also surface health research. Fari’s intended care role needs product-specific proof.</a:t>
            </a:r>
          </a:p>
          <a:p xmlns:a="http://schemas.openxmlformats.org/drawingml/2006/main">
            <a:r>
              <a:t>Next asset: one consent walkthrough plus an evidence-status sheet. Test whether older adults distinguish planned features from proven outcomes.</a:t>
            </a:r>
          </a:p>
          <a:p xmlns:a="http://schemas.openxmlformats.org/drawingml/2006/main">
            <a:r>
              <a:t>Coordinates are analyst coding. No performance tests or customer research conducted.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Fari | 5 | 2 | Warm companion language and health design targets. Clinical effectiveness is not established here. | https://www.ingendynamics.com/fari.html | Direct concept</a:t>
            </a:r>
          </a:p>
          <a:p xmlns:a="http://schemas.openxmlformats.org/drawingml/2006/main">
            <a:r>
              <a:t>ElliQ | 5 | 4 | Companion narrative plus visible research and wellness claims. This records evidence visibility, not study quality. | https://elliq.com/ | Direct</a:t>
            </a:r>
          </a:p>
          <a:p xmlns:a="http://schemas.openxmlformats.org/drawingml/2006/main">
            <a:r>
              <a:t>Joy for All | 4 | 3 | Comforting pet interaction and a linked quality-of-life research source. | https://joyforall.com/ | Adjacent</a:t>
            </a:r>
          </a:p>
          <a:p xmlns:a="http://schemas.openxmlformats.org/drawingml/2006/main">
            <a:r>
              <a:t>LOVOT | 5 | 1 | Affection and comfort lead the reviewed page. Limited visible clinical substantiation there. | https://lovot.life/en/ | Adjacent</a:t>
            </a:r>
          </a:p>
          <a:p xmlns:a="http://schemas.openxmlformats.org/drawingml/2006/main">
            <a:r>
              <a:t>Sony aibo | 4 | 1 | Warmth, play and relationships lead. Medical benefits are not central to the reviewed page. | https://us.aibo.com/ | Adjacent</a:t>
            </a:r>
          </a:p>
          <a:p xmlns:a="http://schemas.openxmlformats.org/drawingml/2006/main">
            <a:r>
              <a:t>temi | 2 | 2 | Service efficiency and healthcare context lead. The reviewed page does not establish clinical benefit. | https://www.robotemi.com/ | Adjacent</a:t>
            </a:r>
          </a:p>
          <a:p xmlns:a="http://schemas.openxmlformats.org/drawingml/2006/main">
            <a:r>
              <a:t>Warmth is already common. ElliQ and Joy for All also surface health research. Fari’s intended care role needs product-specific proof.</a:t>
            </a:r>
          </a:p>
          <a:p xmlns:a="http://schemas.openxmlformats.org/drawingml/2006/main">
            <a:r>
              <a:t>Next asset: one consent walkthrough plus an evidence-status sheet. Test whether older adults distinguish planned features from proven outcomes.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Senpai: x=4, y=5. Curriculum and teacher-override design intentions. These are not verified classroom outcomes. Source: https://www.ingendynamics.com/senpai.html</a:t>
            </a:r>
          </a:p>
          <a:p xmlns:a="http://schemas.openxmlformats.org/drawingml/2006/main">
            <a:r>
              <a:t>2. LEGO Education: x=5, y=4. Grade-specific offerings, teacher resources and professional learning. Source: https://education.lego.com/en-us/</a:t>
            </a:r>
          </a:p>
          <a:p xmlns:a="http://schemas.openxmlformats.org/drawingml/2006/main">
            <a:r>
              <a:t>3. Sphero: x=4, y=4. Grade-specific robotics, standards-aligned lessons and educator training resources. Source: https://sphero.com/</a:t>
            </a:r>
          </a:p>
          <a:p xmlns:a="http://schemas.openxmlformats.org/drawingml/2006/main">
            <a:r>
              <a:t>4. Makeblock: x=3, y=3. Lessons, projects and teacher training alongside coding robot kits. Source: https://www.makeblock.com/</a:t>
            </a:r>
          </a:p>
          <a:p xmlns:a="http://schemas.openxmlformats.org/drawingml/2006/main">
            <a:r>
              <a:t>5. UBTECH Education: x=5, y=3. Systematic K–12 AI curriculum and school implementation examples. Source: https://www.ubtrobot.com/en/ai-education</a:t>
            </a:r>
          </a:p>
          <a:p xmlns:a="http://schemas.openxmlformats.org/drawingml/2006/main">
            <a:r>
              <a:t>6. Ozobot: x=5, y=5. Standards-aligned curriculum, pacing guides, educator support and classroom resources. Source: https://ozobot.com/</a:t>
            </a:r>
          </a:p>
          <a:p xmlns:a="http://schemas.openxmlformats.org/drawingml/2006/main">
            <a:r>
              <a:t>Curriculum resources and teacher support already appear across this set. Broad “teacher empowerment” is not an empty position.</a:t>
            </a:r>
          </a:p>
          <a:p xmlns:a="http://schemas.openxmlformats.org/drawingml/2006/main">
            <a:r>
              <a:t>Next asset: a lesson concept showing an error, teacher correction and a learning objective. Ask educators to identify preparation and training needs.</a:t>
            </a:r>
          </a:p>
          <a:p xmlns:a="http://schemas.openxmlformats.org/drawingml/2006/main">
            <a:r>
              <a:t>Coordinates are analyst coding. No performance tests or customer research conducted.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Senpai | 4 | 5 | Curriculum and teacher-override design intentions. These are not verified classroom outcomes. | https://www.ingendynamics.com/senpai.html | Direct concept</a:t>
            </a:r>
          </a:p>
          <a:p xmlns:a="http://schemas.openxmlformats.org/drawingml/2006/main">
            <a:r>
              <a:t>LEGO Education | 5 | 4 | Grade-specific offerings, teacher resources and professional learning. | https://education.lego.com/en-us/ | Adjacent</a:t>
            </a:r>
          </a:p>
          <a:p xmlns:a="http://schemas.openxmlformats.org/drawingml/2006/main">
            <a:r>
              <a:t>Sphero | 4 | 4 | Grade-specific robotics, standards-aligned lessons and educator training resources. | https://sphero.com/ | Adjacent</a:t>
            </a:r>
          </a:p>
          <a:p xmlns:a="http://schemas.openxmlformats.org/drawingml/2006/main">
            <a:r>
              <a:t>Makeblock | 3 | 3 | Lessons, projects and teacher training alongside coding robot kits. | https://www.makeblock.com/ | Adjacent</a:t>
            </a:r>
          </a:p>
          <a:p xmlns:a="http://schemas.openxmlformats.org/drawingml/2006/main">
            <a:r>
              <a:t>UBTECH Education | 5 | 3 | Systematic K–12 AI curriculum and school implementation examples. | https://www.ubtrobot.com/en/ai-education | Category</a:t>
            </a:r>
          </a:p>
          <a:p xmlns:a="http://schemas.openxmlformats.org/drawingml/2006/main">
            <a:r>
              <a:t>Ozobot | 5 | 5 | Standards-aligned curriculum, pacing guides, educator support and classroom resources. | https://ozobot.com/ | Adjacent</a:t>
            </a:r>
          </a:p>
          <a:p xmlns:a="http://schemas.openxmlformats.org/drawingml/2006/main">
            <a:r>
              <a:t>Curriculum resources and teacher support already appear across this set. Broad “teacher empowerment” is not an empty position.</a:t>
            </a:r>
          </a:p>
          <a:p xmlns:a="http://schemas.openxmlformats.org/drawingml/2006/main">
            <a:r>
              <a:t>Next asset: a lesson concept showing an error, teacher correction and a learning objective. Ask educators to identify preparation and training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Aido Rover: x=5, y=2. Outdoor autonomy and Control Center linkage. Research-stage description gives less detail on incident responsibility. Source: https://www.ingendynamics.com/</a:t>
            </a:r>
          </a:p>
          <a:p xmlns:a="http://schemas.openxmlformats.org/drawingml/2006/main">
            <a:r>
              <a:t>2. Knightscope: x=5, y=4. Autonomous security messaging alongside human agents and a chain of command. Source: https://knightscope.com/</a:t>
            </a:r>
          </a:p>
          <a:p xmlns:a="http://schemas.openxmlformats.org/drawingml/2006/main">
            <a:r>
              <a:t>3. Asylon: x=4, y=5. Robotic patrol with human oversight and an operations center that verifies and escalates. Source: https://asylonrobotics.com/</a:t>
            </a:r>
          </a:p>
          <a:p xmlns:a="http://schemas.openxmlformats.org/drawingml/2006/main">
            <a:r>
              <a:t>4. Cobalt AI: x=3, y=5. Automated investigation with explicit human judgment. Current homepage positions a security platform. Source: https://www.cobaltai.com/</a:t>
            </a:r>
          </a:p>
          <a:p xmlns:a="http://schemas.openxmlformats.org/drawingml/2006/main">
            <a:r>
              <a:t>5. RAD ROAMEO: x=5, y=1. Mapped patrol, detection and response dominate the reviewed homepage. Human handoff detail is less visible there. Source: https://radsecurity.com/</a:t>
            </a:r>
          </a:p>
          <a:p xmlns:a="http://schemas.openxmlformats.org/drawingml/2006/main">
            <a:r>
              <a:t>6. Boston Dynamics Spot: x=4, y=3. Autonomous inspection and remote operator investigation. Broader industrial comparison. Source: https://bostondynamics.com/products/spot/</a:t>
            </a:r>
          </a:p>
          <a:p xmlns:a="http://schemas.openxmlformats.org/drawingml/2006/main">
            <a:r>
              <a:t>Asylon, Cobalt and Knightscope already discuss human oversight. A generic human-control claim would not distinguish Rover.</a:t>
            </a:r>
          </a:p>
          <a:p xmlns:a="http://schemas.openxmlformats.org/drawingml/2006/main">
            <a:r>
              <a:t>Next asset: a false-alarm and connection-loss workflow. Name the responsible person and required evidence at each handoff before proposing a pilot.</a:t>
            </a:r>
          </a:p>
          <a:p xmlns:a="http://schemas.openxmlformats.org/drawingml/2006/main">
            <a:r>
              <a:t>Coordinates are analyst coding. No performance tests or customer research conducted.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Aido Rover | 5 | 2 | Outdoor autonomy and Control Center linkage. Research-stage description gives less detail on incident responsibility. | https://www.ingendynamics.com/ | Direct concept</a:t>
            </a:r>
          </a:p>
          <a:p xmlns:a="http://schemas.openxmlformats.org/drawingml/2006/main">
            <a:r>
              <a:t>Knightscope | 5 | 4 | Autonomous security messaging alongside human agents and a chain of command. | https://knightscope.com/ | Direct</a:t>
            </a:r>
          </a:p>
          <a:p xmlns:a="http://schemas.openxmlformats.org/drawingml/2006/main">
            <a:r>
              <a:t>Asylon | 4 | 5 | Robotic patrol with human oversight and an operations center that verifies and escalates. | https://asylonrobotics.com/ | Direct</a:t>
            </a:r>
          </a:p>
          <a:p xmlns:a="http://schemas.openxmlformats.org/drawingml/2006/main">
            <a:r>
              <a:t>Cobalt AI | 3 | 5 | Automated investigation with explicit human judgment. Current homepage positions a security platform. | https://www.cobaltai.com/ | Adjacent</a:t>
            </a:r>
          </a:p>
          <a:p xmlns:a="http://schemas.openxmlformats.org/drawingml/2006/main">
            <a:r>
              <a:t>RAD ROAMEO | 5 | 1 | Mapped patrol, detection and response dominate the reviewed homepage. Human handoff detail is less visible there. | https://radsecurity.com/ | Direct</a:t>
            </a:r>
          </a:p>
          <a:p xmlns:a="http://schemas.openxmlformats.org/drawingml/2006/main">
            <a:r>
              <a:t>Boston Dynamics Spot | 4 | 3 | Autonomous inspection and remote operator investigation. Broader industrial comparison. | https://bostondynamics.com/products/spot/ | Adjacent</a:t>
            </a:r>
          </a:p>
          <a:p xmlns:a="http://schemas.openxmlformats.org/drawingml/2006/main">
            <a:r>
              <a:t>Asylon, Cobalt and Knightscope already discuss human oversight. A generic human-control claim would not distinguish Rover.</a:t>
            </a:r>
          </a:p>
          <a:p xmlns:a="http://schemas.openxmlformats.org/drawingml/2006/main">
            <a:r>
              <a:t>Next asset: a false-alarm and connection-loss workflow. Name the responsible person and required evidence at each handoff before proposing a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actions, owners and participant counts are proposed. External contact, product trials and child research require appropriate organizational approval. No action here has been executed. Suggested formative counts are not statistical power calculations.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sources for audience applications are in W02_Audience_Personas.docx and W02_Consumer_Psychology_Note.docx. This deck includes three maps, each with InGen and five competitors or adjacent benchmarks. Fari: warmth and evidence visibility replaces an unverified clinical credibility ranking. Senpai: visible curriculum/support replaces tested integration depth. Rover: public autonomy/oversight emphasis, not real-world autonomy capability.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96ea2df7414b9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b65d979ed4646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7239ae1cba454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051fa0926544d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b09f132c1e43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d5b9f0c22334df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F2F140B-1B63-4F4A-A5E3-3CC678CA437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B427A68-E0CA-474B-AB46-A1D46B835C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2FF951A-7608-4C3E-B7B1-7480ACA460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96D8AA1-DED3-4A76-BBEE-783A425EBFA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2CF92B4-FE33-4E19-996C-F3341ED2A6C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6CEEF64-3F10-4B2F-9DF0-D8725957608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E0ECBE1-491B-47AB-8645-59F097C736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A7525525-0E93-49C6-A5CF-05B8F7CEDDA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4AF6C30D-16C4-4CE2-91FD-E1E4A70196A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4F90456-9A51-44AB-A04D-68278B583D2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AF524F2-A463-4281-A30E-4A1129E472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6F207A6-CB3B-4462-AD9A-2200990C2BF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BAA8230-B1E0-4CE3-BD68-1A69D93C12D5}"/>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BC3AD0B-0221-48C5-A864-884B622872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2DC22C9-4D8D-4A3A-87C9-8D5D0A249D7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8c3142e1dd64d44" /><Relationship Type="http://schemas.openxmlformats.org/officeDocument/2006/relationships/slideLayout" Target="/ppt/slideLayouts/slideLayout1.xml" Id="R699cbf22dabb4108" /><Relationship Type="http://schemas.openxmlformats.org/officeDocument/2006/relationships/slideLayout" Target="/ppt/slideLayouts/slideLayout2.xml" Id="R38cb03860c8645d2" /><Relationship Type="http://schemas.openxmlformats.org/officeDocument/2006/relationships/slideLayout" Target="/ppt/slideLayouts/slideLayout3.xml" Id="Rfe221ab22d654d0b" /><Relationship Type="http://schemas.openxmlformats.org/officeDocument/2006/relationships/slideLayout" Target="/ppt/slideLayouts/slideLayout4.xml" Id="R14815635958f43aa" /><Relationship Type="http://schemas.openxmlformats.org/officeDocument/2006/relationships/slideLayout" Target="/ppt/slideLayouts/slideLayout5.xml" Id="Rf6e68534031e4311" /><Relationship Type="http://schemas.openxmlformats.org/officeDocument/2006/relationships/slideLayout" Target="/ppt/slideLayouts/slideLayout6.xml" Id="Re1c7edbcf98443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9cbf22dabb4108"/>
    <p:sldLayoutId xmlns:r="http://schemas.openxmlformats.org/officeDocument/2006/relationships" id="2147483650" r:id="R38cb03860c8645d2"/>
    <p:sldLayoutId xmlns:r="http://schemas.openxmlformats.org/officeDocument/2006/relationships" id="2147483651" r:id="Rfe221ab22d654d0b"/>
    <p:sldLayoutId xmlns:r="http://schemas.openxmlformats.org/officeDocument/2006/relationships" id="2147483652" r:id="R14815635958f43aa"/>
    <p:sldLayoutId xmlns:r="http://schemas.openxmlformats.org/officeDocument/2006/relationships" id="2147483653" r:id="Rf6e68534031e4311"/>
    <p:sldLayoutId xmlns:r="http://schemas.openxmlformats.org/officeDocument/2006/relationships" id="2147483654" r:id="Re1c7edbcf98443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8f4bec5e8304be9" /><Relationship Type="http://schemas.openxmlformats.org/officeDocument/2006/relationships/notesSlide" Target="/ppt/notesSlides/notesSlide1.xml" Id="R9c106a2b1c3647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b9c2178c6fe49a5" /><Relationship Type="http://schemas.openxmlformats.org/officeDocument/2006/relationships/notesSlide" Target="/ppt/notesSlides/notesSlide2.xml" Id="Rd01e05fbc6784e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14391e7acd541c5" /><Relationship Type="http://schemas.openxmlformats.org/officeDocument/2006/relationships/notesSlide" Target="/ppt/notesSlides/notesSlide3.xml" Id="R9bd5e2ddb1ff44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5ebb3352ec4d72" /><Relationship Type="http://schemas.openxmlformats.org/officeDocument/2006/relationships/notesSlide" Target="/ppt/notesSlides/notesSlide4.xml" Id="Re7121fc09cda41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8439f0833b456d" /><Relationship Type="http://schemas.openxmlformats.org/officeDocument/2006/relationships/notesSlide" Target="/ppt/notesSlides/notesSlide5.xml" Id="R77b00d2f094745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709c1e73374af8" /><Relationship Type="http://schemas.openxmlformats.org/officeDocument/2006/relationships/notesSlide" Target="/ppt/notesSlides/notesSlide6.xml" Id="R027c5e44732b49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168f02c33844a0" /><Relationship Type="http://schemas.openxmlformats.org/officeDocument/2006/relationships/notesSlide" Target="/ppt/notesSlides/notesSlide7.xml" Id="Rcd6fe9a5a4d849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9d868fd28a4a5b" /><Relationship Type="http://schemas.openxmlformats.org/officeDocument/2006/relationships/notesSlide" Target="/ppt/notesSlides/notesSlide8.xml" Id="Rd811971c2cab4c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61a13706313437a" /><Relationship Type="http://schemas.openxmlformats.org/officeDocument/2006/relationships/notesSlide" Target="/ppt/notesSlides/notesSlide9.xml" Id="Rf1c6b16e019d41c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2c84690839740f5" /><Relationship Type="http://schemas.openxmlformats.org/officeDocument/2006/relationships/notesSlide" Target="/ppt/notesSlides/notesSlide10.xml" Id="R79627e82b1b9439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0982FD9-124E-4B83-9243-A85A30720CC0}"/>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InGen Week 2 Market Positioning</a:t>
            </a:r>
          </a:p>
        </p:txBody>
      </p:sp>
      <p:sp>
        <p:nvSpPr>
          <p:cNvPr id="2" name="">
            <a:extLst xmlns:a="http://schemas.openxmlformats.org/drawingml/2006/main">
              <a:ext uri="{FF2B5EF4-FFF2-40B4-BE49-F238E27FC236}">
                <a16:creationId xmlns:a16="http://schemas.microsoft.com/office/drawing/2014/main" id="{B21BDCE2-D4CC-480F-8E0E-EAE2E5C7DE5B}"/>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Executive summary</a:t>
            </a:r>
          </a:p>
        </p:txBody>
      </p:sp>
      <p:sp>
        <p:nvSpPr>
          <p:cNvPr id="3" name="">
            <a:extLst xmlns:a="http://schemas.openxmlformats.org/drawingml/2006/main">
              <a:ext uri="{FF2B5EF4-FFF2-40B4-BE49-F238E27FC236}">
                <a16:creationId xmlns:a16="http://schemas.microsoft.com/office/drawing/2014/main" id="{A7038263-EEA2-4F7E-8093-0ED1D18A2702}"/>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1</a:t>
            </a:r>
          </a:p>
        </p:txBody>
      </p:sp>
      <p:sp>
        <p:nvSpPr>
          <p:cNvPr id="4" name="">
            <a:extLst xmlns:a="http://schemas.openxmlformats.org/drawingml/2006/main">
              <a:ext uri="{FF2B5EF4-FFF2-40B4-BE49-F238E27FC236}">
                <a16:creationId xmlns:a16="http://schemas.microsoft.com/office/drawing/2014/main" id="{BDD4E3FA-6BA2-4F39-9FF1-72B99FD3AFF8}"/>
              </a:ext>
            </a:extLst>
          </p:cNvPr>
          <p:cNvSpPr>
            <a:spLocks xmlns:a="http://schemas.openxmlformats.org/drawingml/2006/main" noGrp="1"/>
          </p:cNvSpPr>
          <p:nvPr/>
        </p:nvSpPr>
        <p:spPr>
          <a:xfrm xmlns:a="http://schemas.openxmlformats.org/drawingml/2006/main">
            <a:off x="571500" y="17526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83849"/>
                </a:solidFill>
                <a:latin typeface="Arial"/>
                <a:ea typeface="Arial"/>
                <a:cs typeface="Arial"/>
              </a:defRPr>
            </a:pPr>
            <a:r>
              <a:rPr sz="2550" b="1">
                <a:solidFill>
                  <a:srgbClr val="183849"/>
                </a:solidFill>
                <a:latin typeface="Arial"/>
                <a:ea typeface="Arial"/>
                <a:cs typeface="Arial"/>
              </a:rPr>
              <a:t>The opportunity is to make the human role and supporting evidence easy to inspect.</a:t>
            </a:r>
          </a:p>
        </p:txBody>
      </p:sp>
      <p:sp>
        <p:nvSpPr>
          <p:cNvPr id="5" name="">
            <a:extLst xmlns:a="http://schemas.openxmlformats.org/drawingml/2006/main">
              <a:ext uri="{FF2B5EF4-FFF2-40B4-BE49-F238E27FC236}">
                <a16:creationId xmlns:a16="http://schemas.microsoft.com/office/drawing/2014/main" id="{1154F97D-4F52-4041-9F4A-322FF5E3F4A8}"/>
              </a:ext>
            </a:extLst>
          </p:cNvPr>
          <p:cNvSpPr>
            <a:spLocks xmlns:a="http://schemas.openxmlformats.org/drawingml/2006/main" noGrp="1"/>
          </p:cNvSpPr>
          <p:nvPr/>
        </p:nvSpPr>
        <p:spPr>
          <a:xfrm xmlns:a="http://schemas.openxmlformats.org/drawingml/2006/main">
            <a:off x="571500" y="2990850"/>
            <a:ext cx="204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Fari</a:t>
            </a:r>
          </a:p>
        </p:txBody>
      </p:sp>
      <p:sp>
        <p:nvSpPr>
          <p:cNvPr id="6" name="">
            <a:extLst xmlns:a="http://schemas.openxmlformats.org/drawingml/2006/main">
              <a:ext uri="{FF2B5EF4-FFF2-40B4-BE49-F238E27FC236}">
                <a16:creationId xmlns:a16="http://schemas.microsoft.com/office/drawing/2014/main" id="{45B7ED06-653C-4B9D-873F-6CB71D0AE696}"/>
              </a:ext>
            </a:extLst>
          </p:cNvPr>
          <p:cNvSpPr>
            <a:spLocks xmlns:a="http://schemas.openxmlformats.org/drawingml/2006/main" noGrp="1"/>
          </p:cNvSpPr>
          <p:nvPr/>
        </p:nvSpPr>
        <p:spPr>
          <a:xfrm xmlns:a="http://schemas.openxmlformats.org/drawingml/2006/main">
            <a:off x="2809875" y="295275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Demonstrate user choice and distinguish intended health functions from validated outcomes.</a:t>
            </a:r>
          </a:p>
        </p:txBody>
      </p:sp>
      <p:sp>
        <p:nvSpPr>
          <p:cNvPr id="7" name="">
            <a:extLst xmlns:a="http://schemas.openxmlformats.org/drawingml/2006/main">
              <a:ext uri="{FF2B5EF4-FFF2-40B4-BE49-F238E27FC236}">
                <a16:creationId xmlns:a16="http://schemas.microsoft.com/office/drawing/2014/main" id="{87BCA9EA-6152-481F-A989-D1D9A2B6B235}"/>
              </a:ext>
            </a:extLst>
          </p:cNvPr>
          <p:cNvSpPr>
            <a:spLocks xmlns:a="http://schemas.openxmlformats.org/drawingml/2006/main" noGrp="1"/>
          </p:cNvSpPr>
          <p:nvPr/>
        </p:nvSpPr>
        <p:spPr>
          <a:xfrm xmlns:a="http://schemas.openxmlformats.org/drawingml/2006/main">
            <a:off x="571500" y="3895725"/>
            <a:ext cx="204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Senpai</a:t>
            </a:r>
          </a:p>
        </p:txBody>
      </p:sp>
      <p:sp>
        <p:nvSpPr>
          <p:cNvPr id="8" name="">
            <a:extLst xmlns:a="http://schemas.openxmlformats.org/drawingml/2006/main">
              <a:ext uri="{FF2B5EF4-FFF2-40B4-BE49-F238E27FC236}">
                <a16:creationId xmlns:a16="http://schemas.microsoft.com/office/drawing/2014/main" id="{F650AB06-3D0C-45B2-BB74-C1722B2806B0}"/>
              </a:ext>
            </a:extLst>
          </p:cNvPr>
          <p:cNvSpPr>
            <a:spLocks xmlns:a="http://schemas.openxmlformats.org/drawingml/2006/main" noGrp="1"/>
          </p:cNvSpPr>
          <p:nvPr/>
        </p:nvSpPr>
        <p:spPr>
          <a:xfrm xmlns:a="http://schemas.openxmlformats.org/drawingml/2006/main">
            <a:off x="2809875" y="3857625"/>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Show an actual lesson structure and how the teacher corrects the robot.</a:t>
            </a:r>
          </a:p>
        </p:txBody>
      </p:sp>
      <p:sp>
        <p:nvSpPr>
          <p:cNvPr id="9" name="">
            <a:extLst xmlns:a="http://schemas.openxmlformats.org/drawingml/2006/main">
              <a:ext uri="{FF2B5EF4-FFF2-40B4-BE49-F238E27FC236}">
                <a16:creationId xmlns:a16="http://schemas.microsoft.com/office/drawing/2014/main" id="{2CC27DB6-0466-4438-B54A-0CFBE22287CD}"/>
              </a:ext>
            </a:extLst>
          </p:cNvPr>
          <p:cNvSpPr>
            <a:spLocks xmlns:a="http://schemas.openxmlformats.org/drawingml/2006/main" noGrp="1"/>
          </p:cNvSpPr>
          <p:nvPr/>
        </p:nvSpPr>
        <p:spPr>
          <a:xfrm xmlns:a="http://schemas.openxmlformats.org/drawingml/2006/main">
            <a:off x="571500" y="4800600"/>
            <a:ext cx="204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Aido Rover</a:t>
            </a:r>
          </a:p>
        </p:txBody>
      </p:sp>
      <p:sp>
        <p:nvSpPr>
          <p:cNvPr id="10" name="">
            <a:extLst xmlns:a="http://schemas.openxmlformats.org/drawingml/2006/main">
              <a:ext uri="{FF2B5EF4-FFF2-40B4-BE49-F238E27FC236}">
                <a16:creationId xmlns:a16="http://schemas.microsoft.com/office/drawing/2014/main" id="{972FE56E-6D2F-44CD-98FF-E1C5DC689599}"/>
              </a:ext>
            </a:extLst>
          </p:cNvPr>
          <p:cNvSpPr>
            <a:spLocks xmlns:a="http://schemas.openxmlformats.org/drawingml/2006/main" noGrp="1"/>
          </p:cNvSpPr>
          <p:nvPr/>
        </p:nvSpPr>
        <p:spPr>
          <a:xfrm xmlns:a="http://schemas.openxmlformats.org/drawingml/2006/main">
            <a:off x="2809875" y="4762500"/>
            <a:ext cx="8572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Explain incident responsibility through a site-specific handoff scenario.</a:t>
            </a:r>
          </a:p>
        </p:txBody>
      </p:sp>
    </p:spTree>
    <p:extLst>
      <p:ext uri="{BB962C8B-B14F-4D97-AF65-F5344CB8AC3E}">
        <p14:creationId xmlns:p14="http://schemas.microsoft.com/office/powerpoint/2010/main" val="3933190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E9FF33-15AF-4176-B876-4325E93AA4E2}"/>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How to read the comparisons</a:t>
            </a:r>
          </a:p>
        </p:txBody>
      </p:sp>
      <p:sp>
        <p:nvSpPr>
          <p:cNvPr id="2" name="">
            <a:extLst xmlns:a="http://schemas.openxmlformats.org/drawingml/2006/main">
              <a:ext uri="{FF2B5EF4-FFF2-40B4-BE49-F238E27FC236}">
                <a16:creationId xmlns:a16="http://schemas.microsoft.com/office/drawing/2014/main" id="{2E60B4F4-8A24-4C03-9B4B-37DF8517073E}"/>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All plotted locations are analyst interpretations of the reviewed public pages.</a:t>
            </a:r>
          </a:p>
        </p:txBody>
      </p:sp>
      <p:sp>
        <p:nvSpPr>
          <p:cNvPr id="3" name="">
            <a:extLst xmlns:a="http://schemas.openxmlformats.org/drawingml/2006/main">
              <a:ext uri="{FF2B5EF4-FFF2-40B4-BE49-F238E27FC236}">
                <a16:creationId xmlns:a16="http://schemas.microsoft.com/office/drawing/2014/main" id="{BAD80DEB-2700-4C81-854A-4F2D297BB4BB}"/>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2</a:t>
            </a:r>
          </a:p>
        </p:txBody>
      </p:sp>
      <p:sp>
        <p:nvSpPr>
          <p:cNvPr id="4" name="">
            <a:extLst xmlns:a="http://schemas.openxmlformats.org/drawingml/2006/main">
              <a:ext uri="{FF2B5EF4-FFF2-40B4-BE49-F238E27FC236}">
                <a16:creationId xmlns:a16="http://schemas.microsoft.com/office/drawing/2014/main" id="{4600DD35-ADCE-4257-B0CB-CC46F48A8BB6}"/>
              </a:ext>
            </a:extLst>
          </p:cNvPr>
          <p:cNvSpPr>
            <a:spLocks xmlns:a="http://schemas.openxmlformats.org/drawingml/2006/main" noGrp="1"/>
          </p:cNvSpPr>
          <p:nvPr/>
        </p:nvSpPr>
        <p:spPr>
          <a:xfrm xmlns:a="http://schemas.openxmlformats.org/drawingml/2006/main">
            <a:off x="571500" y="18478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D87"/>
                </a:solidFill>
                <a:latin typeface="Arial"/>
                <a:ea typeface="Arial"/>
                <a:cs typeface="Arial"/>
              </a:defRPr>
            </a:pPr>
            <a:r>
              <a:rPr sz="1725" b="1">
                <a:solidFill>
                  <a:srgbClr val="137D87"/>
                </a:solidFill>
                <a:latin typeface="Arial"/>
                <a:ea typeface="Arial"/>
                <a:cs typeface="Arial"/>
              </a:rPr>
              <a:t>EVIDENCE</a:t>
            </a:r>
          </a:p>
        </p:txBody>
      </p:sp>
      <p:sp>
        <p:nvSpPr>
          <p:cNvPr id="5" name="">
            <a:extLst xmlns:a="http://schemas.openxmlformats.org/drawingml/2006/main">
              <a:ext uri="{FF2B5EF4-FFF2-40B4-BE49-F238E27FC236}">
                <a16:creationId xmlns:a16="http://schemas.microsoft.com/office/drawing/2014/main" id="{20964C43-B5AB-4CB5-8A23-0C6FE2EB1FAF}"/>
              </a:ext>
            </a:extLst>
          </p:cNvPr>
          <p:cNvSpPr>
            <a:spLocks xmlns:a="http://schemas.openxmlformats.org/drawingml/2006/main" noGrp="1"/>
          </p:cNvSpPr>
          <p:nvPr/>
        </p:nvSpPr>
        <p:spPr>
          <a:xfrm xmlns:a="http://schemas.openxmlformats.org/drawingml/2006/main">
            <a:off x="3238500" y="1809750"/>
            <a:ext cx="800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849"/>
                </a:solidFill>
                <a:latin typeface="Arial"/>
                <a:ea typeface="Arial"/>
                <a:cs typeface="Arial"/>
              </a:defRPr>
            </a:pPr>
            <a:r>
              <a:rPr sz="1950" b="0">
                <a:solidFill>
                  <a:srgbClr val="183849"/>
                </a:solidFill>
                <a:latin typeface="Arial"/>
                <a:ea typeface="Arial"/>
                <a:cs typeface="Arial"/>
              </a:rPr>
              <a:t>Attributed website statements and visible resources, with URLs on the evidence slides.</a:t>
            </a:r>
          </a:p>
        </p:txBody>
      </p:sp>
      <p:sp>
        <p:nvSpPr>
          <p:cNvPr id="6" name="">
            <a:extLst xmlns:a="http://schemas.openxmlformats.org/drawingml/2006/main">
              <a:ext uri="{FF2B5EF4-FFF2-40B4-BE49-F238E27FC236}">
                <a16:creationId xmlns:a16="http://schemas.microsoft.com/office/drawing/2014/main" id="{38862849-6429-4EB0-A4CA-B2E1139349E0}"/>
              </a:ext>
            </a:extLst>
          </p:cNvPr>
          <p:cNvSpPr>
            <a:spLocks xmlns:a="http://schemas.openxmlformats.org/drawingml/2006/main" noGrp="1"/>
          </p:cNvSpPr>
          <p:nvPr/>
        </p:nvSpPr>
        <p:spPr>
          <a:xfrm xmlns:a="http://schemas.openxmlformats.org/drawingml/2006/main">
            <a:off x="571500" y="28098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849"/>
                </a:solidFill>
                <a:latin typeface="Arial"/>
                <a:ea typeface="Arial"/>
                <a:cs typeface="Arial"/>
              </a:defRPr>
            </a:pPr>
            <a:r>
              <a:rPr sz="1725" b="1">
                <a:solidFill>
                  <a:srgbClr val="183849"/>
                </a:solidFill>
                <a:latin typeface="Arial"/>
                <a:ea typeface="Arial"/>
                <a:cs typeface="Arial"/>
              </a:rPr>
              <a:t>INTERPRETATION</a:t>
            </a:r>
          </a:p>
        </p:txBody>
      </p:sp>
      <p:sp>
        <p:nvSpPr>
          <p:cNvPr id="7" name="">
            <a:extLst xmlns:a="http://schemas.openxmlformats.org/drawingml/2006/main">
              <a:ext uri="{FF2B5EF4-FFF2-40B4-BE49-F238E27FC236}">
                <a16:creationId xmlns:a16="http://schemas.microsoft.com/office/drawing/2014/main" id="{3407E223-532B-439D-887A-863EB2BE626E}"/>
              </a:ext>
            </a:extLst>
          </p:cNvPr>
          <p:cNvSpPr>
            <a:spLocks xmlns:a="http://schemas.openxmlformats.org/drawingml/2006/main" noGrp="1"/>
          </p:cNvSpPr>
          <p:nvPr/>
        </p:nvSpPr>
        <p:spPr>
          <a:xfrm xmlns:a="http://schemas.openxmlformats.org/drawingml/2006/main">
            <a:off x="3238500" y="2743200"/>
            <a:ext cx="8048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Ordinal positions from 1 to 5. Low = limited emphasis, 3 = clear theme or resource, 5 = dominant or detailed treatment. Intermediate codes sit between anchors.</a:t>
            </a:r>
          </a:p>
        </p:txBody>
      </p:sp>
      <p:sp>
        <p:nvSpPr>
          <p:cNvPr id="8" name="">
            <a:extLst xmlns:a="http://schemas.openxmlformats.org/drawingml/2006/main">
              <a:ext uri="{FF2B5EF4-FFF2-40B4-BE49-F238E27FC236}">
                <a16:creationId xmlns:a16="http://schemas.microsoft.com/office/drawing/2014/main" id="{20F60B0F-878B-4C1A-9FCD-4CC588744901}"/>
              </a:ext>
            </a:extLst>
          </p:cNvPr>
          <p:cNvSpPr>
            <a:spLocks xmlns:a="http://schemas.openxmlformats.org/drawingml/2006/main" noGrp="1"/>
          </p:cNvSpPr>
          <p:nvPr/>
        </p:nvSpPr>
        <p:spPr>
          <a:xfrm xmlns:a="http://schemas.openxmlformats.org/drawingml/2006/main">
            <a:off x="571500" y="41148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B9751E"/>
                </a:solidFill>
                <a:latin typeface="Arial"/>
                <a:ea typeface="Arial"/>
                <a:cs typeface="Arial"/>
              </a:defRPr>
            </a:pPr>
            <a:r>
              <a:rPr sz="1725" b="1">
                <a:solidFill>
                  <a:srgbClr val="B9751E"/>
                </a:solidFill>
                <a:latin typeface="Arial"/>
                <a:ea typeface="Arial"/>
                <a:cs typeface="Arial"/>
              </a:rPr>
              <a:t>HYPOTHESIS</a:t>
            </a:r>
          </a:p>
        </p:txBody>
      </p:sp>
      <p:sp>
        <p:nvSpPr>
          <p:cNvPr id="9" name="">
            <a:extLst xmlns:a="http://schemas.openxmlformats.org/drawingml/2006/main">
              <a:ext uri="{FF2B5EF4-FFF2-40B4-BE49-F238E27FC236}">
                <a16:creationId xmlns:a16="http://schemas.microsoft.com/office/drawing/2014/main" id="{B0E4C588-EC79-477B-86AF-BB00FD913D6C}"/>
              </a:ext>
            </a:extLst>
          </p:cNvPr>
          <p:cNvSpPr>
            <a:spLocks xmlns:a="http://schemas.openxmlformats.org/drawingml/2006/main" noGrp="1"/>
          </p:cNvSpPr>
          <p:nvPr/>
        </p:nvSpPr>
        <p:spPr>
          <a:xfrm xmlns:a="http://schemas.openxmlformats.org/drawingml/2006/main">
            <a:off x="3238500" y="4038600"/>
            <a:ext cx="8001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Each proposed territory needs customer validation. No map proves willingness to buy, clinical benefit, learning gains or security performance.</a:t>
            </a:r>
          </a:p>
        </p:txBody>
      </p:sp>
      <p:sp>
        <p:nvSpPr>
          <p:cNvPr id="10" name="">
            <a:extLst xmlns:a="http://schemas.openxmlformats.org/drawingml/2006/main">
              <a:ext uri="{FF2B5EF4-FFF2-40B4-BE49-F238E27FC236}">
                <a16:creationId xmlns:a16="http://schemas.microsoft.com/office/drawing/2014/main" id="{04B4FA57-D132-4D23-943D-CCF163CF5B2E}"/>
              </a:ext>
            </a:extLst>
          </p:cNvPr>
          <p:cNvSpPr>
            <a:spLocks xmlns:a="http://schemas.openxmlformats.org/drawingml/2006/main" noGrp="1"/>
          </p:cNvSpPr>
          <p:nvPr/>
        </p:nvSpPr>
        <p:spPr>
          <a:xfrm xmlns:a="http://schemas.openxmlformats.org/drawingml/2006/main">
            <a:off x="571500" y="53911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Scope: one reviewer, a limited page set and mixed product categories. Adjacent products are alternatives or communication benchmarks. Recheck positions with a second reviewer before external publication.</a:t>
            </a:r>
          </a:p>
        </p:txBody>
      </p:sp>
    </p:spTree>
    <p:extLst>
      <p:ext uri="{BB962C8B-B14F-4D97-AF65-F5344CB8AC3E}">
        <p14:creationId xmlns:p14="http://schemas.microsoft.com/office/powerpoint/2010/main" val="7488680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A75D5DB2-6D43-4982-ADEB-698C3E4D38E5}"/>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Fari needs evidence that matches its care promise</a:t>
            </a:r>
          </a:p>
        </p:txBody>
      </p:sp>
      <p:sp>
        <p:nvSpPr>
          <p:cNvPr id="2" name="">
            <a:extLst xmlns:a="http://schemas.openxmlformats.org/drawingml/2006/main">
              <a:ext uri="{FF2B5EF4-FFF2-40B4-BE49-F238E27FC236}">
                <a16:creationId xmlns:a16="http://schemas.microsoft.com/office/drawing/2014/main" id="{D93E5A28-22BA-44A4-B330-5B142EF2FA38}"/>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INTERPRETATION   /   Public communication codes, not performance measurements</a:t>
            </a:r>
          </a:p>
        </p:txBody>
      </p:sp>
      <p:sp>
        <p:nvSpPr>
          <p:cNvPr id="3" name="">
            <a:extLst xmlns:a="http://schemas.openxmlformats.org/drawingml/2006/main">
              <a:ext uri="{FF2B5EF4-FFF2-40B4-BE49-F238E27FC236}">
                <a16:creationId xmlns:a16="http://schemas.microsoft.com/office/drawing/2014/main" id="{DBD65E1B-F473-4876-A92F-0C079858C481}"/>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3</a:t>
            </a:r>
          </a:p>
        </p:txBody>
      </p:sp>
      <p:sp>
        <p:nvSpPr>
          <p:cNvPr id="4" name="">
            <a:extLst xmlns:a="http://schemas.openxmlformats.org/drawingml/2006/main">
              <a:ext uri="{FF2B5EF4-FFF2-40B4-BE49-F238E27FC236}">
                <a16:creationId xmlns:a16="http://schemas.microsoft.com/office/drawing/2014/main" id="{0B661FE9-0900-4B2C-A44E-87DADDD23464}"/>
              </a:ext>
            </a:extLst>
          </p:cNvPr>
          <p:cNvSpPr>
            <a:spLocks xmlns:a="http://schemas.openxmlformats.org/drawingml/2006/main" noGrp="1"/>
          </p:cNvSpPr>
          <p:nvPr/>
        </p:nvSpPr>
        <p:spPr>
          <a:xfrm xmlns:a="http://schemas.openxmlformats.org/drawingml/2006/main">
            <a:off x="102870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38639C-0998-4B2D-80FE-9B11103FAADB}"/>
              </a:ext>
            </a:extLst>
          </p:cNvPr>
          <p:cNvSpPr>
            <a:spLocks xmlns:a="http://schemas.openxmlformats.org/drawingml/2006/main" noGrp="1"/>
          </p:cNvSpPr>
          <p:nvPr/>
        </p:nvSpPr>
        <p:spPr>
          <a:xfrm xmlns:a="http://schemas.openxmlformats.org/drawingml/2006/main">
            <a:off x="1028700" y="1952625"/>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4C5D7D0-80AB-47EE-8C9C-5E12495C70B3}"/>
              </a:ext>
            </a:extLst>
          </p:cNvPr>
          <p:cNvSpPr>
            <a:spLocks xmlns:a="http://schemas.openxmlformats.org/drawingml/2006/main" noGrp="1"/>
          </p:cNvSpPr>
          <p:nvPr/>
        </p:nvSpPr>
        <p:spPr>
          <a:xfrm xmlns:a="http://schemas.openxmlformats.org/drawingml/2006/main">
            <a:off x="93345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F3FB71BE-1676-40B9-9C22-574121D47C57}"/>
              </a:ext>
            </a:extLst>
          </p:cNvPr>
          <p:cNvSpPr>
            <a:spLocks xmlns:a="http://schemas.openxmlformats.org/drawingml/2006/main" noGrp="1"/>
          </p:cNvSpPr>
          <p:nvPr/>
        </p:nvSpPr>
        <p:spPr>
          <a:xfrm xmlns:a="http://schemas.openxmlformats.org/drawingml/2006/main">
            <a:off x="666750" y="1828800"/>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8" name="">
            <a:extLst xmlns:a="http://schemas.openxmlformats.org/drawingml/2006/main">
              <a:ext uri="{FF2B5EF4-FFF2-40B4-BE49-F238E27FC236}">
                <a16:creationId xmlns:a16="http://schemas.microsoft.com/office/drawing/2014/main" id="{1AE2D766-68D9-4784-937C-D34BC77B299D}"/>
              </a:ext>
            </a:extLst>
          </p:cNvPr>
          <p:cNvSpPr>
            <a:spLocks xmlns:a="http://schemas.openxmlformats.org/drawingml/2006/main" noGrp="1"/>
          </p:cNvSpPr>
          <p:nvPr/>
        </p:nvSpPr>
        <p:spPr>
          <a:xfrm xmlns:a="http://schemas.openxmlformats.org/drawingml/2006/main">
            <a:off x="2528888"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72D9096-B498-487E-BB76-B08F0C54C1D7}"/>
              </a:ext>
            </a:extLst>
          </p:cNvPr>
          <p:cNvSpPr>
            <a:spLocks xmlns:a="http://schemas.openxmlformats.org/drawingml/2006/main" noGrp="1"/>
          </p:cNvSpPr>
          <p:nvPr/>
        </p:nvSpPr>
        <p:spPr>
          <a:xfrm xmlns:a="http://schemas.openxmlformats.org/drawingml/2006/main">
            <a:off x="1028700" y="2797969"/>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4E40792-7723-4607-AE20-253DC7C38669}"/>
              </a:ext>
            </a:extLst>
          </p:cNvPr>
          <p:cNvSpPr>
            <a:spLocks xmlns:a="http://schemas.openxmlformats.org/drawingml/2006/main" noGrp="1"/>
          </p:cNvSpPr>
          <p:nvPr/>
        </p:nvSpPr>
        <p:spPr>
          <a:xfrm xmlns:a="http://schemas.openxmlformats.org/drawingml/2006/main">
            <a:off x="2433638"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E0B7EDAD-EF61-4F3C-B2DF-FD9237D17C1D}"/>
              </a:ext>
            </a:extLst>
          </p:cNvPr>
          <p:cNvSpPr>
            <a:spLocks xmlns:a="http://schemas.openxmlformats.org/drawingml/2006/main" noGrp="1"/>
          </p:cNvSpPr>
          <p:nvPr/>
        </p:nvSpPr>
        <p:spPr>
          <a:xfrm xmlns:a="http://schemas.openxmlformats.org/drawingml/2006/main">
            <a:off x="666750" y="2674144"/>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7A8BFD14-5EC8-4144-A718-B72F95267333}"/>
              </a:ext>
            </a:extLst>
          </p:cNvPr>
          <p:cNvSpPr>
            <a:spLocks xmlns:a="http://schemas.openxmlformats.org/drawingml/2006/main" noGrp="1"/>
          </p:cNvSpPr>
          <p:nvPr/>
        </p:nvSpPr>
        <p:spPr>
          <a:xfrm xmlns:a="http://schemas.openxmlformats.org/drawingml/2006/main">
            <a:off x="4029075"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F0D84D3-4559-4D8E-9BF9-61383BA4E348}"/>
              </a:ext>
            </a:extLst>
          </p:cNvPr>
          <p:cNvSpPr>
            <a:spLocks xmlns:a="http://schemas.openxmlformats.org/drawingml/2006/main" noGrp="1"/>
          </p:cNvSpPr>
          <p:nvPr/>
        </p:nvSpPr>
        <p:spPr>
          <a:xfrm xmlns:a="http://schemas.openxmlformats.org/drawingml/2006/main">
            <a:off x="1028700" y="3643313"/>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5D74D935-0013-43A9-8BC5-A05DA5101CAC}"/>
              </a:ext>
            </a:extLst>
          </p:cNvPr>
          <p:cNvSpPr>
            <a:spLocks xmlns:a="http://schemas.openxmlformats.org/drawingml/2006/main" noGrp="1"/>
          </p:cNvSpPr>
          <p:nvPr/>
        </p:nvSpPr>
        <p:spPr>
          <a:xfrm xmlns:a="http://schemas.openxmlformats.org/drawingml/2006/main">
            <a:off x="3933825"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CE86376D-635D-4E64-9C43-FA4491D9AF11}"/>
              </a:ext>
            </a:extLst>
          </p:cNvPr>
          <p:cNvSpPr>
            <a:spLocks xmlns:a="http://schemas.openxmlformats.org/drawingml/2006/main" noGrp="1"/>
          </p:cNvSpPr>
          <p:nvPr/>
        </p:nvSpPr>
        <p:spPr>
          <a:xfrm xmlns:a="http://schemas.openxmlformats.org/drawingml/2006/main">
            <a:off x="666750" y="3519488"/>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BCE80359-AD88-4BEC-BBC2-BF69D3BF1754}"/>
              </a:ext>
            </a:extLst>
          </p:cNvPr>
          <p:cNvSpPr>
            <a:spLocks xmlns:a="http://schemas.openxmlformats.org/drawingml/2006/main" noGrp="1"/>
          </p:cNvSpPr>
          <p:nvPr/>
        </p:nvSpPr>
        <p:spPr>
          <a:xfrm xmlns:a="http://schemas.openxmlformats.org/drawingml/2006/main">
            <a:off x="5529263"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187374B-8B09-40A8-88B4-6077D92A161B}"/>
              </a:ext>
            </a:extLst>
          </p:cNvPr>
          <p:cNvSpPr>
            <a:spLocks xmlns:a="http://schemas.openxmlformats.org/drawingml/2006/main" noGrp="1"/>
          </p:cNvSpPr>
          <p:nvPr/>
        </p:nvSpPr>
        <p:spPr>
          <a:xfrm xmlns:a="http://schemas.openxmlformats.org/drawingml/2006/main">
            <a:off x="1028700" y="4488656"/>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311614D-7ADE-4FCF-AEC6-D43E934E224E}"/>
              </a:ext>
            </a:extLst>
          </p:cNvPr>
          <p:cNvSpPr>
            <a:spLocks xmlns:a="http://schemas.openxmlformats.org/drawingml/2006/main" noGrp="1"/>
          </p:cNvSpPr>
          <p:nvPr/>
        </p:nvSpPr>
        <p:spPr>
          <a:xfrm xmlns:a="http://schemas.openxmlformats.org/drawingml/2006/main">
            <a:off x="5434013"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D2EC9561-98FC-4BAA-A97D-15D6D2497815}"/>
              </a:ext>
            </a:extLst>
          </p:cNvPr>
          <p:cNvSpPr>
            <a:spLocks xmlns:a="http://schemas.openxmlformats.org/drawingml/2006/main" noGrp="1"/>
          </p:cNvSpPr>
          <p:nvPr/>
        </p:nvSpPr>
        <p:spPr>
          <a:xfrm xmlns:a="http://schemas.openxmlformats.org/drawingml/2006/main">
            <a:off x="666750" y="4364831"/>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8451B731-BD77-4B5F-B16D-82EEF9F5077A}"/>
              </a:ext>
            </a:extLst>
          </p:cNvPr>
          <p:cNvSpPr>
            <a:spLocks xmlns:a="http://schemas.openxmlformats.org/drawingml/2006/main" noGrp="1"/>
          </p:cNvSpPr>
          <p:nvPr/>
        </p:nvSpPr>
        <p:spPr>
          <a:xfrm xmlns:a="http://schemas.openxmlformats.org/drawingml/2006/main">
            <a:off x="702945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5CC6A3B-1CB2-4D9F-AA07-CCBA8C5C8E6A}"/>
              </a:ext>
            </a:extLst>
          </p:cNvPr>
          <p:cNvSpPr>
            <a:spLocks xmlns:a="http://schemas.openxmlformats.org/drawingml/2006/main" noGrp="1"/>
          </p:cNvSpPr>
          <p:nvPr/>
        </p:nvSpPr>
        <p:spPr>
          <a:xfrm xmlns:a="http://schemas.openxmlformats.org/drawingml/2006/main">
            <a:off x="1028700" y="5334000"/>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08B7154-E7F3-4873-A3EA-00C66ED43F0E}"/>
              </a:ext>
            </a:extLst>
          </p:cNvPr>
          <p:cNvSpPr>
            <a:spLocks xmlns:a="http://schemas.openxmlformats.org/drawingml/2006/main" noGrp="1"/>
          </p:cNvSpPr>
          <p:nvPr/>
        </p:nvSpPr>
        <p:spPr>
          <a:xfrm xmlns:a="http://schemas.openxmlformats.org/drawingml/2006/main">
            <a:off x="693420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FCD1A94B-1765-4E0E-A086-B4D10E9B5A8A}"/>
              </a:ext>
            </a:extLst>
          </p:cNvPr>
          <p:cNvSpPr>
            <a:spLocks xmlns:a="http://schemas.openxmlformats.org/drawingml/2006/main" noGrp="1"/>
          </p:cNvSpPr>
          <p:nvPr/>
        </p:nvSpPr>
        <p:spPr>
          <a:xfrm xmlns:a="http://schemas.openxmlformats.org/drawingml/2006/main">
            <a:off x="666750" y="5210175"/>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5EA8836B-5147-41B2-B975-F96E55D327E6}"/>
              </a:ext>
            </a:extLst>
          </p:cNvPr>
          <p:cNvSpPr>
            <a:spLocks xmlns:a="http://schemas.openxmlformats.org/drawingml/2006/main" noGrp="1"/>
          </p:cNvSpPr>
          <p:nvPr/>
        </p:nvSpPr>
        <p:spPr>
          <a:xfrm xmlns:a="http://schemas.openxmlformats.org/drawingml/2006/main">
            <a:off x="857250" y="1571625"/>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Visibility of linked health evidence</a:t>
            </a:r>
          </a:p>
        </p:txBody>
      </p:sp>
      <p:sp>
        <p:nvSpPr>
          <p:cNvPr id="25" name="">
            <a:extLst xmlns:a="http://schemas.openxmlformats.org/drawingml/2006/main">
              <a:ext uri="{FF2B5EF4-FFF2-40B4-BE49-F238E27FC236}">
                <a16:creationId xmlns:a16="http://schemas.microsoft.com/office/drawing/2014/main" id="{16B74513-5B9E-47E2-8D85-A604694CCD07}"/>
              </a:ext>
            </a:extLst>
          </p:cNvPr>
          <p:cNvSpPr>
            <a:spLocks xmlns:a="http://schemas.openxmlformats.org/drawingml/2006/main" noGrp="1"/>
          </p:cNvSpPr>
          <p:nvPr/>
        </p:nvSpPr>
        <p:spPr>
          <a:xfrm xmlns:a="http://schemas.openxmlformats.org/drawingml/2006/main">
            <a:off x="1428750" y="57340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Emotional warmth in communication</a:t>
            </a:r>
          </a:p>
        </p:txBody>
      </p:sp>
      <p:sp>
        <p:nvSpPr>
          <p:cNvPr id="26" name="">
            <a:extLst xmlns:a="http://schemas.openxmlformats.org/drawingml/2006/main">
              <a:ext uri="{FF2B5EF4-FFF2-40B4-BE49-F238E27FC236}">
                <a16:creationId xmlns:a16="http://schemas.microsoft.com/office/drawing/2014/main" id="{2E0528AB-1D4D-4D81-9592-A9C79F0E96CA}"/>
              </a:ext>
            </a:extLst>
          </p:cNvPr>
          <p:cNvSpPr>
            <a:spLocks xmlns:a="http://schemas.openxmlformats.org/drawingml/2006/main" noGrp="1"/>
          </p:cNvSpPr>
          <p:nvPr/>
        </p:nvSpPr>
        <p:spPr>
          <a:xfrm xmlns:a="http://schemas.openxmlformats.org/drawingml/2006/main">
            <a:off x="6858000" y="4317206"/>
            <a:ext cx="342900" cy="342900"/>
          </a:xfrm>
          <a:prstGeom xmlns:a="http://schemas.openxmlformats.org/drawingml/2006/main" prst="ellipse">
            <a:avLst/>
          </a:prstGeom>
          <a:solidFill xmlns:a="http://schemas.openxmlformats.org/drawingml/2006/main">
            <a:srgbClr val="137D87"/>
          </a:solidFill>
          <a:ln xmlns:a="http://schemas.openxmlformats.org/drawingml/2006/main" w="19050">
            <a:solidFill>
              <a:srgbClr val="FFFFFF"/>
            </a:solidFill>
          </a:ln>
        </p:spPr>
      </p:sp>
      <p:sp>
        <p:nvSpPr>
          <p:cNvPr id="27" name="">
            <a:extLst xmlns:a="http://schemas.openxmlformats.org/drawingml/2006/main">
              <a:ext uri="{FF2B5EF4-FFF2-40B4-BE49-F238E27FC236}">
                <a16:creationId xmlns:a16="http://schemas.microsoft.com/office/drawing/2014/main" id="{CA62ACFB-1CBE-4E27-B1FA-ACFE83FDA0A3}"/>
              </a:ext>
            </a:extLst>
          </p:cNvPr>
          <p:cNvSpPr>
            <a:spLocks xmlns:a="http://schemas.openxmlformats.org/drawingml/2006/main" noGrp="1"/>
          </p:cNvSpPr>
          <p:nvPr/>
        </p:nvSpPr>
        <p:spPr>
          <a:xfrm xmlns:a="http://schemas.openxmlformats.org/drawingml/2006/main">
            <a:off x="6934200" y="4355306"/>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28" name="">
            <a:extLst xmlns:a="http://schemas.openxmlformats.org/drawingml/2006/main">
              <a:ext uri="{FF2B5EF4-FFF2-40B4-BE49-F238E27FC236}">
                <a16:creationId xmlns:a16="http://schemas.microsoft.com/office/drawing/2014/main" id="{03D8853F-F9B0-4E1C-A20F-4BEB84A36C4B}"/>
              </a:ext>
            </a:extLst>
          </p:cNvPr>
          <p:cNvSpPr>
            <a:spLocks xmlns:a="http://schemas.openxmlformats.org/drawingml/2006/main" noGrp="1"/>
          </p:cNvSpPr>
          <p:nvPr/>
        </p:nvSpPr>
        <p:spPr>
          <a:xfrm xmlns:a="http://schemas.openxmlformats.org/drawingml/2006/main">
            <a:off x="7762875" y="17811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D87"/>
                </a:solidFill>
                <a:latin typeface="Arial"/>
                <a:ea typeface="Arial"/>
                <a:cs typeface="Arial"/>
              </a:defRPr>
            </a:pPr>
            <a:r>
              <a:rPr sz="1725" b="1">
                <a:solidFill>
                  <a:srgbClr val="137D87"/>
                </a:solidFill>
                <a:latin typeface="Arial"/>
                <a:ea typeface="Arial"/>
                <a:cs typeface="Arial"/>
              </a:rPr>
              <a:t>1  Fari</a:t>
            </a:r>
          </a:p>
        </p:txBody>
      </p:sp>
      <p:sp>
        <p:nvSpPr>
          <p:cNvPr id="29" name="">
            <a:extLst xmlns:a="http://schemas.openxmlformats.org/drawingml/2006/main">
              <a:ext uri="{FF2B5EF4-FFF2-40B4-BE49-F238E27FC236}">
                <a16:creationId xmlns:a16="http://schemas.microsoft.com/office/drawing/2014/main" id="{1CCD0932-2D58-469F-9E32-C52A2872DA0F}"/>
              </a:ext>
            </a:extLst>
          </p:cNvPr>
          <p:cNvSpPr>
            <a:spLocks xmlns:a="http://schemas.openxmlformats.org/drawingml/2006/main" noGrp="1"/>
          </p:cNvSpPr>
          <p:nvPr/>
        </p:nvSpPr>
        <p:spPr>
          <a:xfrm xmlns:a="http://schemas.openxmlformats.org/drawingml/2006/main">
            <a:off x="6858000" y="2626519"/>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0" name="">
            <a:extLst xmlns:a="http://schemas.openxmlformats.org/drawingml/2006/main">
              <a:ext uri="{FF2B5EF4-FFF2-40B4-BE49-F238E27FC236}">
                <a16:creationId xmlns:a16="http://schemas.microsoft.com/office/drawing/2014/main" id="{A9865E7B-6E11-48EF-BA11-1B502CC48425}"/>
              </a:ext>
            </a:extLst>
          </p:cNvPr>
          <p:cNvSpPr>
            <a:spLocks xmlns:a="http://schemas.openxmlformats.org/drawingml/2006/main" noGrp="1"/>
          </p:cNvSpPr>
          <p:nvPr/>
        </p:nvSpPr>
        <p:spPr>
          <a:xfrm xmlns:a="http://schemas.openxmlformats.org/drawingml/2006/main">
            <a:off x="6934200" y="2664619"/>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FC750315-0039-4B02-ABE4-F8F20C2B88DB}"/>
              </a:ext>
            </a:extLst>
          </p:cNvPr>
          <p:cNvSpPr>
            <a:spLocks xmlns:a="http://schemas.openxmlformats.org/drawingml/2006/main" noGrp="1"/>
          </p:cNvSpPr>
          <p:nvPr/>
        </p:nvSpPr>
        <p:spPr>
          <a:xfrm xmlns:a="http://schemas.openxmlformats.org/drawingml/2006/main">
            <a:off x="7762875" y="21717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2  ElliQ</a:t>
            </a:r>
          </a:p>
        </p:txBody>
      </p:sp>
      <p:sp>
        <p:nvSpPr>
          <p:cNvPr id="32" name="">
            <a:extLst xmlns:a="http://schemas.openxmlformats.org/drawingml/2006/main">
              <a:ext uri="{FF2B5EF4-FFF2-40B4-BE49-F238E27FC236}">
                <a16:creationId xmlns:a16="http://schemas.microsoft.com/office/drawing/2014/main" id="{28AEBFED-7BC8-4900-85D7-520EF0BE4277}"/>
              </a:ext>
            </a:extLst>
          </p:cNvPr>
          <p:cNvSpPr>
            <a:spLocks xmlns:a="http://schemas.openxmlformats.org/drawingml/2006/main" noGrp="1"/>
          </p:cNvSpPr>
          <p:nvPr/>
        </p:nvSpPr>
        <p:spPr>
          <a:xfrm xmlns:a="http://schemas.openxmlformats.org/drawingml/2006/main">
            <a:off x="5357813" y="3471863"/>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3" name="">
            <a:extLst xmlns:a="http://schemas.openxmlformats.org/drawingml/2006/main">
              <a:ext uri="{FF2B5EF4-FFF2-40B4-BE49-F238E27FC236}">
                <a16:creationId xmlns:a16="http://schemas.microsoft.com/office/drawing/2014/main" id="{DF4B29AC-7D63-43D0-90B6-48B24C52318C}"/>
              </a:ext>
            </a:extLst>
          </p:cNvPr>
          <p:cNvSpPr>
            <a:spLocks xmlns:a="http://schemas.openxmlformats.org/drawingml/2006/main" noGrp="1"/>
          </p:cNvSpPr>
          <p:nvPr/>
        </p:nvSpPr>
        <p:spPr>
          <a:xfrm xmlns:a="http://schemas.openxmlformats.org/drawingml/2006/main">
            <a:off x="5434013" y="3509963"/>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34" name="">
            <a:extLst xmlns:a="http://schemas.openxmlformats.org/drawingml/2006/main">
              <a:ext uri="{FF2B5EF4-FFF2-40B4-BE49-F238E27FC236}">
                <a16:creationId xmlns:a16="http://schemas.microsoft.com/office/drawing/2014/main" id="{B73F7FC4-669C-437D-8E3F-F88695B95014}"/>
              </a:ext>
            </a:extLst>
          </p:cNvPr>
          <p:cNvSpPr>
            <a:spLocks xmlns:a="http://schemas.openxmlformats.org/drawingml/2006/main" noGrp="1"/>
          </p:cNvSpPr>
          <p:nvPr/>
        </p:nvSpPr>
        <p:spPr>
          <a:xfrm xmlns:a="http://schemas.openxmlformats.org/drawingml/2006/main">
            <a:off x="7762875" y="25622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3  Joy for All</a:t>
            </a:r>
          </a:p>
        </p:txBody>
      </p:sp>
      <p:sp>
        <p:nvSpPr>
          <p:cNvPr id="35" name="">
            <a:extLst xmlns:a="http://schemas.openxmlformats.org/drawingml/2006/main">
              <a:ext uri="{FF2B5EF4-FFF2-40B4-BE49-F238E27FC236}">
                <a16:creationId xmlns:a16="http://schemas.microsoft.com/office/drawing/2014/main" id="{CC063601-BD9F-4125-AB41-3501560FC625}"/>
              </a:ext>
            </a:extLst>
          </p:cNvPr>
          <p:cNvSpPr>
            <a:spLocks xmlns:a="http://schemas.openxmlformats.org/drawingml/2006/main" noGrp="1"/>
          </p:cNvSpPr>
          <p:nvPr/>
        </p:nvSpPr>
        <p:spPr>
          <a:xfrm xmlns:a="http://schemas.openxmlformats.org/drawingml/2006/main">
            <a:off x="6858000" y="5162550"/>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6" name="">
            <a:extLst xmlns:a="http://schemas.openxmlformats.org/drawingml/2006/main">
              <a:ext uri="{FF2B5EF4-FFF2-40B4-BE49-F238E27FC236}">
                <a16:creationId xmlns:a16="http://schemas.microsoft.com/office/drawing/2014/main" id="{5A4090C3-47BB-4316-88A8-1163AFF63412}"/>
              </a:ext>
            </a:extLst>
          </p:cNvPr>
          <p:cNvSpPr>
            <a:spLocks xmlns:a="http://schemas.openxmlformats.org/drawingml/2006/main" noGrp="1"/>
          </p:cNvSpPr>
          <p:nvPr/>
        </p:nvSpPr>
        <p:spPr>
          <a:xfrm xmlns:a="http://schemas.openxmlformats.org/drawingml/2006/main">
            <a:off x="6934200" y="520065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37" name="">
            <a:extLst xmlns:a="http://schemas.openxmlformats.org/drawingml/2006/main">
              <a:ext uri="{FF2B5EF4-FFF2-40B4-BE49-F238E27FC236}">
                <a16:creationId xmlns:a16="http://schemas.microsoft.com/office/drawing/2014/main" id="{A058C390-1276-445E-B192-07DF4A9D30CE}"/>
              </a:ext>
            </a:extLst>
          </p:cNvPr>
          <p:cNvSpPr>
            <a:spLocks xmlns:a="http://schemas.openxmlformats.org/drawingml/2006/main" noGrp="1"/>
          </p:cNvSpPr>
          <p:nvPr/>
        </p:nvSpPr>
        <p:spPr>
          <a:xfrm xmlns:a="http://schemas.openxmlformats.org/drawingml/2006/main">
            <a:off x="7762875" y="29527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4  LOVOT</a:t>
            </a:r>
          </a:p>
        </p:txBody>
      </p:sp>
      <p:sp>
        <p:nvSpPr>
          <p:cNvPr id="38" name="">
            <a:extLst xmlns:a="http://schemas.openxmlformats.org/drawingml/2006/main">
              <a:ext uri="{FF2B5EF4-FFF2-40B4-BE49-F238E27FC236}">
                <a16:creationId xmlns:a16="http://schemas.microsoft.com/office/drawing/2014/main" id="{93092388-4F7C-4EBD-9E83-D429C0812497}"/>
              </a:ext>
            </a:extLst>
          </p:cNvPr>
          <p:cNvSpPr>
            <a:spLocks xmlns:a="http://schemas.openxmlformats.org/drawingml/2006/main" noGrp="1"/>
          </p:cNvSpPr>
          <p:nvPr/>
        </p:nvSpPr>
        <p:spPr>
          <a:xfrm xmlns:a="http://schemas.openxmlformats.org/drawingml/2006/main">
            <a:off x="5357813" y="5162550"/>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9" name="">
            <a:extLst xmlns:a="http://schemas.openxmlformats.org/drawingml/2006/main">
              <a:ext uri="{FF2B5EF4-FFF2-40B4-BE49-F238E27FC236}">
                <a16:creationId xmlns:a16="http://schemas.microsoft.com/office/drawing/2014/main" id="{B2F92BDC-CF88-4F0F-93C9-4D51F22ABD2F}"/>
              </a:ext>
            </a:extLst>
          </p:cNvPr>
          <p:cNvSpPr>
            <a:spLocks xmlns:a="http://schemas.openxmlformats.org/drawingml/2006/main" noGrp="1"/>
          </p:cNvSpPr>
          <p:nvPr/>
        </p:nvSpPr>
        <p:spPr>
          <a:xfrm xmlns:a="http://schemas.openxmlformats.org/drawingml/2006/main">
            <a:off x="5434013" y="520065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5</a:t>
            </a:r>
          </a:p>
        </p:txBody>
      </p:sp>
      <p:sp>
        <p:nvSpPr>
          <p:cNvPr id="40" name="">
            <a:extLst xmlns:a="http://schemas.openxmlformats.org/drawingml/2006/main">
              <a:ext uri="{FF2B5EF4-FFF2-40B4-BE49-F238E27FC236}">
                <a16:creationId xmlns:a16="http://schemas.microsoft.com/office/drawing/2014/main" id="{A37CD397-0BB2-4FEB-A9BD-2BD8C7BCAA2B}"/>
              </a:ext>
            </a:extLst>
          </p:cNvPr>
          <p:cNvSpPr>
            <a:spLocks xmlns:a="http://schemas.openxmlformats.org/drawingml/2006/main" noGrp="1"/>
          </p:cNvSpPr>
          <p:nvPr/>
        </p:nvSpPr>
        <p:spPr>
          <a:xfrm xmlns:a="http://schemas.openxmlformats.org/drawingml/2006/main">
            <a:off x="7762875" y="33432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5  Sony aibo</a:t>
            </a:r>
          </a:p>
        </p:txBody>
      </p:sp>
      <p:sp>
        <p:nvSpPr>
          <p:cNvPr id="41" name="">
            <a:extLst xmlns:a="http://schemas.openxmlformats.org/drawingml/2006/main">
              <a:ext uri="{FF2B5EF4-FFF2-40B4-BE49-F238E27FC236}">
                <a16:creationId xmlns:a16="http://schemas.microsoft.com/office/drawing/2014/main" id="{205DB378-5A13-414F-912A-E8F907526EFD}"/>
              </a:ext>
            </a:extLst>
          </p:cNvPr>
          <p:cNvSpPr>
            <a:spLocks xmlns:a="http://schemas.openxmlformats.org/drawingml/2006/main" noGrp="1"/>
          </p:cNvSpPr>
          <p:nvPr/>
        </p:nvSpPr>
        <p:spPr>
          <a:xfrm xmlns:a="http://schemas.openxmlformats.org/drawingml/2006/main">
            <a:off x="2357438" y="4317206"/>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42" name="">
            <a:extLst xmlns:a="http://schemas.openxmlformats.org/drawingml/2006/main">
              <a:ext uri="{FF2B5EF4-FFF2-40B4-BE49-F238E27FC236}">
                <a16:creationId xmlns:a16="http://schemas.microsoft.com/office/drawing/2014/main" id="{4F7FBFA7-C719-4F66-9625-39C73653FB14}"/>
              </a:ext>
            </a:extLst>
          </p:cNvPr>
          <p:cNvSpPr>
            <a:spLocks xmlns:a="http://schemas.openxmlformats.org/drawingml/2006/main" noGrp="1"/>
          </p:cNvSpPr>
          <p:nvPr/>
        </p:nvSpPr>
        <p:spPr>
          <a:xfrm xmlns:a="http://schemas.openxmlformats.org/drawingml/2006/main">
            <a:off x="2433638" y="4355306"/>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6</a:t>
            </a:r>
          </a:p>
        </p:txBody>
      </p:sp>
      <p:sp>
        <p:nvSpPr>
          <p:cNvPr id="43" name="">
            <a:extLst xmlns:a="http://schemas.openxmlformats.org/drawingml/2006/main">
              <a:ext uri="{FF2B5EF4-FFF2-40B4-BE49-F238E27FC236}">
                <a16:creationId xmlns:a16="http://schemas.microsoft.com/office/drawing/2014/main" id="{ADD72184-5B2C-4841-B047-E3CBB7C4289A}"/>
              </a:ext>
            </a:extLst>
          </p:cNvPr>
          <p:cNvSpPr>
            <a:spLocks xmlns:a="http://schemas.openxmlformats.org/drawingml/2006/main" noGrp="1"/>
          </p:cNvSpPr>
          <p:nvPr/>
        </p:nvSpPr>
        <p:spPr>
          <a:xfrm xmlns:a="http://schemas.openxmlformats.org/drawingml/2006/main">
            <a:off x="7762875" y="37338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6  temi</a:t>
            </a:r>
          </a:p>
        </p:txBody>
      </p:sp>
      <p:sp>
        <p:nvSpPr>
          <p:cNvPr id="44" name="">
            <a:extLst xmlns:a="http://schemas.openxmlformats.org/drawingml/2006/main">
              <a:ext uri="{FF2B5EF4-FFF2-40B4-BE49-F238E27FC236}">
                <a16:creationId xmlns:a16="http://schemas.microsoft.com/office/drawing/2014/main" id="{43ED0CFC-C4D5-431C-AB85-9031FA37246E}"/>
              </a:ext>
            </a:extLst>
          </p:cNvPr>
          <p:cNvSpPr>
            <a:spLocks xmlns:a="http://schemas.openxmlformats.org/drawingml/2006/main" noGrp="1"/>
          </p:cNvSpPr>
          <p:nvPr/>
        </p:nvSpPr>
        <p:spPr>
          <a:xfrm xmlns:a="http://schemas.openxmlformats.org/drawingml/2006/main">
            <a:off x="7762875" y="4276725"/>
            <a:ext cx="361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751E"/>
                </a:solidFill>
                <a:latin typeface="Arial"/>
                <a:ea typeface="Arial"/>
                <a:cs typeface="Arial"/>
              </a:defRPr>
            </a:pPr>
            <a:r>
              <a:rPr sz="1500" b="1">
                <a:solidFill>
                  <a:srgbClr val="B9751E"/>
                </a:solidFill>
                <a:latin typeface="Arial"/>
                <a:ea typeface="Arial"/>
                <a:cs typeface="Arial"/>
              </a:rPr>
              <a:t>HYPOTHESIS</a:t>
            </a:r>
          </a:p>
        </p:txBody>
      </p:sp>
      <p:sp>
        <p:nvSpPr>
          <p:cNvPr id="45" name="">
            <a:extLst xmlns:a="http://schemas.openxmlformats.org/drawingml/2006/main">
              <a:ext uri="{FF2B5EF4-FFF2-40B4-BE49-F238E27FC236}">
                <a16:creationId xmlns:a16="http://schemas.microsoft.com/office/drawing/2014/main" id="{2FADC8B9-E424-479A-B610-15A70D46B462}"/>
              </a:ext>
            </a:extLst>
          </p:cNvPr>
          <p:cNvSpPr>
            <a:spLocks xmlns:a="http://schemas.openxmlformats.org/drawingml/2006/main" noGrp="1"/>
          </p:cNvSpPr>
          <p:nvPr/>
        </p:nvSpPr>
        <p:spPr>
          <a:xfrm xmlns:a="http://schemas.openxmlformats.org/drawingml/2006/main">
            <a:off x="7762875" y="4667250"/>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companionship with visible user choice and claim-specific evidence.</a:t>
            </a:r>
          </a:p>
        </p:txBody>
      </p:sp>
    </p:spTree>
    <p:extLst>
      <p:ext uri="{BB962C8B-B14F-4D97-AF65-F5344CB8AC3E}">
        <p14:creationId xmlns:p14="http://schemas.microsoft.com/office/powerpoint/2010/main" val="8459945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E920488-971E-48DC-A574-69C44A5FDC10}"/>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Fari evidence behind the map</a:t>
            </a:r>
          </a:p>
        </p:txBody>
      </p:sp>
      <p:sp>
        <p:nvSpPr>
          <p:cNvPr id="2" name="">
            <a:extLst xmlns:a="http://schemas.openxmlformats.org/drawingml/2006/main">
              <a:ext uri="{FF2B5EF4-FFF2-40B4-BE49-F238E27FC236}">
                <a16:creationId xmlns:a16="http://schemas.microsoft.com/office/drawing/2014/main" id="{69DE1F72-76E1-4159-9545-DBB3F1A74925}"/>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EVIDENCE   /   Company statements and visible resources   /   Accessed 5 October 2026</a:t>
            </a:r>
          </a:p>
        </p:txBody>
      </p:sp>
      <p:sp>
        <p:nvSpPr>
          <p:cNvPr id="3" name="">
            <a:extLst xmlns:a="http://schemas.openxmlformats.org/drawingml/2006/main">
              <a:ext uri="{FF2B5EF4-FFF2-40B4-BE49-F238E27FC236}">
                <a16:creationId xmlns:a16="http://schemas.microsoft.com/office/drawing/2014/main" id="{8C68EB8A-A7BA-4DB9-B216-D4E9AFB9A286}"/>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4</a:t>
            </a:r>
          </a:p>
        </p:txBody>
      </p:sp>
      <p:sp>
        <p:nvSpPr>
          <p:cNvPr id="4" name="">
            <a:extLst xmlns:a="http://schemas.openxmlformats.org/drawingml/2006/main">
              <a:ext uri="{FF2B5EF4-FFF2-40B4-BE49-F238E27FC236}">
                <a16:creationId xmlns:a16="http://schemas.microsoft.com/office/drawing/2014/main" id="{12822F17-AE89-4C38-92C0-2A95D55E4E47}"/>
              </a:ext>
            </a:extLst>
          </p:cNvPr>
          <p:cNvSpPr>
            <a:spLocks xmlns:a="http://schemas.openxmlformats.org/drawingml/2006/main" noGrp="1"/>
          </p:cNvSpPr>
          <p:nvPr/>
        </p:nvSpPr>
        <p:spPr>
          <a:xfrm xmlns:a="http://schemas.openxmlformats.org/drawingml/2006/main">
            <a:off x="571500" y="1714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7D87"/>
                </a:solidFill>
                <a:latin typeface="Arial"/>
                <a:ea typeface="Arial"/>
                <a:cs typeface="Arial"/>
              </a:defRPr>
            </a:pPr>
            <a:r>
              <a:rPr sz="1650" b="1">
                <a:solidFill>
                  <a:srgbClr val="137D87"/>
                </a:solidFill>
                <a:latin typeface="Arial"/>
                <a:ea typeface="Arial"/>
                <a:cs typeface="Arial"/>
              </a:rPr>
              <a:t>1  Fari</a:t>
            </a:r>
          </a:p>
        </p:txBody>
      </p:sp>
      <p:sp>
        <p:nvSpPr>
          <p:cNvPr id="5" name="">
            <a:extLst xmlns:a="http://schemas.openxmlformats.org/drawingml/2006/main">
              <a:ext uri="{FF2B5EF4-FFF2-40B4-BE49-F238E27FC236}">
                <a16:creationId xmlns:a16="http://schemas.microsoft.com/office/drawing/2014/main" id="{B859C272-77E4-4138-A748-7954914EB4ED}"/>
              </a:ext>
            </a:extLst>
          </p:cNvPr>
          <p:cNvSpPr>
            <a:spLocks xmlns:a="http://schemas.openxmlformats.org/drawingml/2006/main" noGrp="1"/>
          </p:cNvSpPr>
          <p:nvPr/>
        </p:nvSpPr>
        <p:spPr>
          <a:xfrm xmlns:a="http://schemas.openxmlformats.org/drawingml/2006/main">
            <a:off x="3095625" y="1714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Warm companion language and health design targets. Clinical effectiveness is not established here.</a:t>
            </a:r>
          </a:p>
        </p:txBody>
      </p:sp>
      <p:sp>
        <p:nvSpPr>
          <p:cNvPr id="6" name="">
            <a:extLst xmlns:a="http://schemas.openxmlformats.org/drawingml/2006/main">
              <a:ext uri="{FF2B5EF4-FFF2-40B4-BE49-F238E27FC236}">
                <a16:creationId xmlns:a16="http://schemas.microsoft.com/office/drawing/2014/main" id="{397B15E2-6AAA-43E3-B338-C3E504AF25AA}"/>
              </a:ext>
            </a:extLst>
          </p:cNvPr>
          <p:cNvSpPr>
            <a:spLocks xmlns:a="http://schemas.openxmlformats.org/drawingml/2006/main" noGrp="1"/>
          </p:cNvSpPr>
          <p:nvPr/>
        </p:nvSpPr>
        <p:spPr>
          <a:xfrm xmlns:a="http://schemas.openxmlformats.org/drawingml/2006/main">
            <a:off x="3095625" y="2181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https://www.ingendynamics.com/fari.html</a:t>
            </a:r>
          </a:p>
        </p:txBody>
      </p:sp>
      <p:sp>
        <p:nvSpPr>
          <p:cNvPr id="7" name="">
            <a:extLst xmlns:a="http://schemas.openxmlformats.org/drawingml/2006/main">
              <a:ext uri="{FF2B5EF4-FFF2-40B4-BE49-F238E27FC236}">
                <a16:creationId xmlns:a16="http://schemas.microsoft.com/office/drawing/2014/main" id="{546410CA-E49E-44E5-8E38-88850B635BD3}"/>
              </a:ext>
            </a:extLst>
          </p:cNvPr>
          <p:cNvSpPr>
            <a:spLocks xmlns:a="http://schemas.openxmlformats.org/drawingml/2006/main" noGrp="1"/>
          </p:cNvSpPr>
          <p:nvPr/>
        </p:nvSpPr>
        <p:spPr>
          <a:xfrm xmlns:a="http://schemas.openxmlformats.org/drawingml/2006/main">
            <a:off x="571500" y="24003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2  ElliQ</a:t>
            </a:r>
          </a:p>
        </p:txBody>
      </p:sp>
      <p:sp>
        <p:nvSpPr>
          <p:cNvPr id="8" name="">
            <a:extLst xmlns:a="http://schemas.openxmlformats.org/drawingml/2006/main">
              <a:ext uri="{FF2B5EF4-FFF2-40B4-BE49-F238E27FC236}">
                <a16:creationId xmlns:a16="http://schemas.microsoft.com/office/drawing/2014/main" id="{E0C83BCF-FBC6-4810-9574-CBE504A05B55}"/>
              </a:ext>
            </a:extLst>
          </p:cNvPr>
          <p:cNvSpPr>
            <a:spLocks xmlns:a="http://schemas.openxmlformats.org/drawingml/2006/main" noGrp="1"/>
          </p:cNvSpPr>
          <p:nvPr/>
        </p:nvSpPr>
        <p:spPr>
          <a:xfrm xmlns:a="http://schemas.openxmlformats.org/drawingml/2006/main">
            <a:off x="3095625" y="24003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Companion narrative plus visible research and wellness claims. This records evidence visibility, not study quality.</a:t>
            </a:r>
          </a:p>
        </p:txBody>
      </p:sp>
      <p:sp>
        <p:nvSpPr>
          <p:cNvPr id="9" name="">
            <a:extLst xmlns:a="http://schemas.openxmlformats.org/drawingml/2006/main">
              <a:ext uri="{FF2B5EF4-FFF2-40B4-BE49-F238E27FC236}">
                <a16:creationId xmlns:a16="http://schemas.microsoft.com/office/drawing/2014/main" id="{271D9FFE-FD21-49A2-B88B-B5292AC5DF44}"/>
              </a:ext>
            </a:extLst>
          </p:cNvPr>
          <p:cNvSpPr>
            <a:spLocks xmlns:a="http://schemas.openxmlformats.org/drawingml/2006/main" noGrp="1"/>
          </p:cNvSpPr>
          <p:nvPr/>
        </p:nvSpPr>
        <p:spPr>
          <a:xfrm xmlns:a="http://schemas.openxmlformats.org/drawingml/2006/main">
            <a:off x="3095625" y="28670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https://elliq.com/</a:t>
            </a:r>
          </a:p>
        </p:txBody>
      </p:sp>
      <p:sp>
        <p:nvSpPr>
          <p:cNvPr id="10" name="">
            <a:extLst xmlns:a="http://schemas.openxmlformats.org/drawingml/2006/main">
              <a:ext uri="{FF2B5EF4-FFF2-40B4-BE49-F238E27FC236}">
                <a16:creationId xmlns:a16="http://schemas.microsoft.com/office/drawing/2014/main" id="{3BBB2C34-ED53-4D13-B74E-11EDB4B2ABB6}"/>
              </a:ext>
            </a:extLst>
          </p:cNvPr>
          <p:cNvSpPr>
            <a:spLocks xmlns:a="http://schemas.openxmlformats.org/drawingml/2006/main" noGrp="1"/>
          </p:cNvSpPr>
          <p:nvPr/>
        </p:nvSpPr>
        <p:spPr>
          <a:xfrm xmlns:a="http://schemas.openxmlformats.org/drawingml/2006/main">
            <a:off x="571500" y="30861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3  Joy for All</a:t>
            </a:r>
          </a:p>
        </p:txBody>
      </p:sp>
      <p:sp>
        <p:nvSpPr>
          <p:cNvPr id="11" name="">
            <a:extLst xmlns:a="http://schemas.openxmlformats.org/drawingml/2006/main">
              <a:ext uri="{FF2B5EF4-FFF2-40B4-BE49-F238E27FC236}">
                <a16:creationId xmlns:a16="http://schemas.microsoft.com/office/drawing/2014/main" id="{2B975B62-0945-4BFE-8D15-14E03007177A}"/>
              </a:ext>
            </a:extLst>
          </p:cNvPr>
          <p:cNvSpPr>
            <a:spLocks xmlns:a="http://schemas.openxmlformats.org/drawingml/2006/main" noGrp="1"/>
          </p:cNvSpPr>
          <p:nvPr/>
        </p:nvSpPr>
        <p:spPr>
          <a:xfrm xmlns:a="http://schemas.openxmlformats.org/drawingml/2006/main">
            <a:off x="3095625" y="30861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Comforting pet interaction and a linked quality-of-life research source.</a:t>
            </a:r>
          </a:p>
        </p:txBody>
      </p:sp>
      <p:sp>
        <p:nvSpPr>
          <p:cNvPr id="12" name="">
            <a:extLst xmlns:a="http://schemas.openxmlformats.org/drawingml/2006/main">
              <a:ext uri="{FF2B5EF4-FFF2-40B4-BE49-F238E27FC236}">
                <a16:creationId xmlns:a16="http://schemas.microsoft.com/office/drawing/2014/main" id="{4B4AE02F-B60B-4501-8E66-10CDFF6BAB03}"/>
              </a:ext>
            </a:extLst>
          </p:cNvPr>
          <p:cNvSpPr>
            <a:spLocks xmlns:a="http://schemas.openxmlformats.org/drawingml/2006/main" noGrp="1"/>
          </p:cNvSpPr>
          <p:nvPr/>
        </p:nvSpPr>
        <p:spPr>
          <a:xfrm xmlns:a="http://schemas.openxmlformats.org/drawingml/2006/main">
            <a:off x="3095625" y="35528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https://joyforall.com/</a:t>
            </a:r>
          </a:p>
        </p:txBody>
      </p:sp>
      <p:sp>
        <p:nvSpPr>
          <p:cNvPr id="13" name="">
            <a:extLst xmlns:a="http://schemas.openxmlformats.org/drawingml/2006/main">
              <a:ext uri="{FF2B5EF4-FFF2-40B4-BE49-F238E27FC236}">
                <a16:creationId xmlns:a16="http://schemas.microsoft.com/office/drawing/2014/main" id="{049D2665-7468-4AB3-8C92-3DC1CAE75F13}"/>
              </a:ext>
            </a:extLst>
          </p:cNvPr>
          <p:cNvSpPr>
            <a:spLocks xmlns:a="http://schemas.openxmlformats.org/drawingml/2006/main" noGrp="1"/>
          </p:cNvSpPr>
          <p:nvPr/>
        </p:nvSpPr>
        <p:spPr>
          <a:xfrm xmlns:a="http://schemas.openxmlformats.org/drawingml/2006/main">
            <a:off x="571500" y="37719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4  LOVOT</a:t>
            </a:r>
          </a:p>
        </p:txBody>
      </p:sp>
      <p:sp>
        <p:nvSpPr>
          <p:cNvPr id="14" name="">
            <a:extLst xmlns:a="http://schemas.openxmlformats.org/drawingml/2006/main">
              <a:ext uri="{FF2B5EF4-FFF2-40B4-BE49-F238E27FC236}">
                <a16:creationId xmlns:a16="http://schemas.microsoft.com/office/drawing/2014/main" id="{C14660B0-1E8B-4F36-BD6E-B13BEA48887B}"/>
              </a:ext>
            </a:extLst>
          </p:cNvPr>
          <p:cNvSpPr>
            <a:spLocks xmlns:a="http://schemas.openxmlformats.org/drawingml/2006/main" noGrp="1"/>
          </p:cNvSpPr>
          <p:nvPr/>
        </p:nvSpPr>
        <p:spPr>
          <a:xfrm xmlns:a="http://schemas.openxmlformats.org/drawingml/2006/main">
            <a:off x="3095625" y="37719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Affection and comfort lead the reviewed page. Limited visible clinical substantiation there.</a:t>
            </a:r>
          </a:p>
        </p:txBody>
      </p:sp>
      <p:sp>
        <p:nvSpPr>
          <p:cNvPr id="15" name="">
            <a:extLst xmlns:a="http://schemas.openxmlformats.org/drawingml/2006/main">
              <a:ext uri="{FF2B5EF4-FFF2-40B4-BE49-F238E27FC236}">
                <a16:creationId xmlns:a16="http://schemas.microsoft.com/office/drawing/2014/main" id="{5C852E34-9110-4803-BD31-5172D6443162}"/>
              </a:ext>
            </a:extLst>
          </p:cNvPr>
          <p:cNvSpPr>
            <a:spLocks xmlns:a="http://schemas.openxmlformats.org/drawingml/2006/main" noGrp="1"/>
          </p:cNvSpPr>
          <p:nvPr/>
        </p:nvSpPr>
        <p:spPr>
          <a:xfrm xmlns:a="http://schemas.openxmlformats.org/drawingml/2006/main">
            <a:off x="3095625" y="42386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https://lovot.life/en/</a:t>
            </a:r>
          </a:p>
        </p:txBody>
      </p:sp>
      <p:sp>
        <p:nvSpPr>
          <p:cNvPr id="16" name="">
            <a:extLst xmlns:a="http://schemas.openxmlformats.org/drawingml/2006/main">
              <a:ext uri="{FF2B5EF4-FFF2-40B4-BE49-F238E27FC236}">
                <a16:creationId xmlns:a16="http://schemas.microsoft.com/office/drawing/2014/main" id="{79570D49-AB2D-4A68-AC62-D8F6B7BD747C}"/>
              </a:ext>
            </a:extLst>
          </p:cNvPr>
          <p:cNvSpPr>
            <a:spLocks xmlns:a="http://schemas.openxmlformats.org/drawingml/2006/main" noGrp="1"/>
          </p:cNvSpPr>
          <p:nvPr/>
        </p:nvSpPr>
        <p:spPr>
          <a:xfrm xmlns:a="http://schemas.openxmlformats.org/drawingml/2006/main">
            <a:off x="571500" y="44577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5  Sony aibo</a:t>
            </a:r>
          </a:p>
        </p:txBody>
      </p:sp>
      <p:sp>
        <p:nvSpPr>
          <p:cNvPr id="17" name="">
            <a:extLst xmlns:a="http://schemas.openxmlformats.org/drawingml/2006/main">
              <a:ext uri="{FF2B5EF4-FFF2-40B4-BE49-F238E27FC236}">
                <a16:creationId xmlns:a16="http://schemas.microsoft.com/office/drawing/2014/main" id="{BE885357-EDE0-4F7B-BA58-3796C1439321}"/>
              </a:ext>
            </a:extLst>
          </p:cNvPr>
          <p:cNvSpPr>
            <a:spLocks xmlns:a="http://schemas.openxmlformats.org/drawingml/2006/main" noGrp="1"/>
          </p:cNvSpPr>
          <p:nvPr/>
        </p:nvSpPr>
        <p:spPr>
          <a:xfrm xmlns:a="http://schemas.openxmlformats.org/drawingml/2006/main">
            <a:off x="3095625" y="44577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Warmth, play and relationships lead. Medical benefits are not central to the reviewed page.</a:t>
            </a:r>
          </a:p>
        </p:txBody>
      </p:sp>
      <p:sp>
        <p:nvSpPr>
          <p:cNvPr id="18" name="">
            <a:extLst xmlns:a="http://schemas.openxmlformats.org/drawingml/2006/main">
              <a:ext uri="{FF2B5EF4-FFF2-40B4-BE49-F238E27FC236}">
                <a16:creationId xmlns:a16="http://schemas.microsoft.com/office/drawing/2014/main" id="{735EB9F0-4CEC-4981-A70C-EFB01CDC4F12}"/>
              </a:ext>
            </a:extLst>
          </p:cNvPr>
          <p:cNvSpPr>
            <a:spLocks xmlns:a="http://schemas.openxmlformats.org/drawingml/2006/main" noGrp="1"/>
          </p:cNvSpPr>
          <p:nvPr/>
        </p:nvSpPr>
        <p:spPr>
          <a:xfrm xmlns:a="http://schemas.openxmlformats.org/drawingml/2006/main">
            <a:off x="3095625" y="49244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https://us.aibo.com/</a:t>
            </a:r>
          </a:p>
        </p:txBody>
      </p:sp>
      <p:sp>
        <p:nvSpPr>
          <p:cNvPr id="19" name="">
            <a:extLst xmlns:a="http://schemas.openxmlformats.org/drawingml/2006/main">
              <a:ext uri="{FF2B5EF4-FFF2-40B4-BE49-F238E27FC236}">
                <a16:creationId xmlns:a16="http://schemas.microsoft.com/office/drawing/2014/main" id="{FB552F57-E782-47D9-926C-A1CEF11A16D4}"/>
              </a:ext>
            </a:extLst>
          </p:cNvPr>
          <p:cNvSpPr>
            <a:spLocks xmlns:a="http://schemas.openxmlformats.org/drawingml/2006/main" noGrp="1"/>
          </p:cNvSpPr>
          <p:nvPr/>
        </p:nvSpPr>
        <p:spPr>
          <a:xfrm xmlns:a="http://schemas.openxmlformats.org/drawingml/2006/main">
            <a:off x="571500" y="5143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6  temi</a:t>
            </a:r>
          </a:p>
        </p:txBody>
      </p:sp>
      <p:sp>
        <p:nvSpPr>
          <p:cNvPr id="20" name="">
            <a:extLst xmlns:a="http://schemas.openxmlformats.org/drawingml/2006/main">
              <a:ext uri="{FF2B5EF4-FFF2-40B4-BE49-F238E27FC236}">
                <a16:creationId xmlns:a16="http://schemas.microsoft.com/office/drawing/2014/main" id="{7CAB3026-7BCE-4791-A989-B37B49842EAE}"/>
              </a:ext>
            </a:extLst>
          </p:cNvPr>
          <p:cNvSpPr>
            <a:spLocks xmlns:a="http://schemas.openxmlformats.org/drawingml/2006/main" noGrp="1"/>
          </p:cNvSpPr>
          <p:nvPr/>
        </p:nvSpPr>
        <p:spPr>
          <a:xfrm xmlns:a="http://schemas.openxmlformats.org/drawingml/2006/main">
            <a:off x="3095625" y="5143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Service efficiency and healthcare context lead. The reviewed page does not establish clinical benefit.</a:t>
            </a:r>
          </a:p>
        </p:txBody>
      </p:sp>
      <p:sp>
        <p:nvSpPr>
          <p:cNvPr id="21" name="">
            <a:extLst xmlns:a="http://schemas.openxmlformats.org/drawingml/2006/main">
              <a:ext uri="{FF2B5EF4-FFF2-40B4-BE49-F238E27FC236}">
                <a16:creationId xmlns:a16="http://schemas.microsoft.com/office/drawing/2014/main" id="{1F14E212-DD40-4841-BB15-51F18FDB996A}"/>
              </a:ext>
            </a:extLst>
          </p:cNvPr>
          <p:cNvSpPr>
            <a:spLocks xmlns:a="http://schemas.openxmlformats.org/drawingml/2006/main" noGrp="1"/>
          </p:cNvSpPr>
          <p:nvPr/>
        </p:nvSpPr>
        <p:spPr>
          <a:xfrm xmlns:a="http://schemas.openxmlformats.org/drawingml/2006/main">
            <a:off x="3095625" y="5610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https://www.robotemi.com/</a:t>
            </a:r>
          </a:p>
        </p:txBody>
      </p:sp>
      <p:sp>
        <p:nvSpPr>
          <p:cNvPr id="22" name="">
            <a:extLst xmlns:a="http://schemas.openxmlformats.org/drawingml/2006/main">
              <a:ext uri="{FF2B5EF4-FFF2-40B4-BE49-F238E27FC236}">
                <a16:creationId xmlns:a16="http://schemas.microsoft.com/office/drawing/2014/main" id="{C620D298-B052-4D3A-B1BF-30BC642078F1}"/>
              </a:ext>
            </a:extLst>
          </p:cNvPr>
          <p:cNvSpPr>
            <a:spLocks xmlns:a="http://schemas.openxmlformats.org/drawingml/2006/main" noGrp="1"/>
          </p:cNvSpPr>
          <p:nvPr/>
        </p:nvSpPr>
        <p:spPr>
          <a:xfrm xmlns:a="http://schemas.openxmlformats.org/drawingml/2006/main">
            <a:off x="571500" y="59817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Comparison set: ElliQ, Joy for All (adjacent), LOVOT (adjacent), Sony aibo (adjacent), temi (adjacent)</a:t>
            </a:r>
          </a:p>
        </p:txBody>
      </p:sp>
    </p:spTree>
    <p:extLst>
      <p:ext uri="{BB962C8B-B14F-4D97-AF65-F5344CB8AC3E}">
        <p14:creationId xmlns:p14="http://schemas.microsoft.com/office/powerpoint/2010/main" val="9247260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72A58BC-3064-4F12-AEAA-07B06BC6ADC3}"/>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Senpai needs a lesson teachers can evaluate</a:t>
            </a:r>
          </a:p>
        </p:txBody>
      </p:sp>
      <p:sp>
        <p:nvSpPr>
          <p:cNvPr id="2" name="">
            <a:extLst xmlns:a="http://schemas.openxmlformats.org/drawingml/2006/main">
              <a:ext uri="{FF2B5EF4-FFF2-40B4-BE49-F238E27FC236}">
                <a16:creationId xmlns:a16="http://schemas.microsoft.com/office/drawing/2014/main" id="{D437F65A-BA9A-47F1-B4DE-82825ED9E224}"/>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INTERPRETATION   /   Public communication codes, not performance measurements</a:t>
            </a:r>
          </a:p>
        </p:txBody>
      </p:sp>
      <p:sp>
        <p:nvSpPr>
          <p:cNvPr id="3" name="">
            <a:extLst xmlns:a="http://schemas.openxmlformats.org/drawingml/2006/main">
              <a:ext uri="{FF2B5EF4-FFF2-40B4-BE49-F238E27FC236}">
                <a16:creationId xmlns:a16="http://schemas.microsoft.com/office/drawing/2014/main" id="{115BDCC7-770F-4D6F-9E08-885E0428A931}"/>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5</a:t>
            </a:r>
          </a:p>
        </p:txBody>
      </p:sp>
      <p:sp>
        <p:nvSpPr>
          <p:cNvPr id="4" name="">
            <a:extLst xmlns:a="http://schemas.openxmlformats.org/drawingml/2006/main">
              <a:ext uri="{FF2B5EF4-FFF2-40B4-BE49-F238E27FC236}">
                <a16:creationId xmlns:a16="http://schemas.microsoft.com/office/drawing/2014/main" id="{8507C2DC-B550-4D90-975B-D1753AF645B5}"/>
              </a:ext>
            </a:extLst>
          </p:cNvPr>
          <p:cNvSpPr>
            <a:spLocks xmlns:a="http://schemas.openxmlformats.org/drawingml/2006/main" noGrp="1"/>
          </p:cNvSpPr>
          <p:nvPr/>
        </p:nvSpPr>
        <p:spPr>
          <a:xfrm xmlns:a="http://schemas.openxmlformats.org/drawingml/2006/main">
            <a:off x="102870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06E3ED9-4281-42F6-9F82-041D9D8D04EB}"/>
              </a:ext>
            </a:extLst>
          </p:cNvPr>
          <p:cNvSpPr>
            <a:spLocks xmlns:a="http://schemas.openxmlformats.org/drawingml/2006/main" noGrp="1"/>
          </p:cNvSpPr>
          <p:nvPr/>
        </p:nvSpPr>
        <p:spPr>
          <a:xfrm xmlns:a="http://schemas.openxmlformats.org/drawingml/2006/main">
            <a:off x="1028700" y="1952625"/>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BFFA87B-5CF0-4524-9B8D-800D282B0E6F}"/>
              </a:ext>
            </a:extLst>
          </p:cNvPr>
          <p:cNvSpPr>
            <a:spLocks xmlns:a="http://schemas.openxmlformats.org/drawingml/2006/main" noGrp="1"/>
          </p:cNvSpPr>
          <p:nvPr/>
        </p:nvSpPr>
        <p:spPr>
          <a:xfrm xmlns:a="http://schemas.openxmlformats.org/drawingml/2006/main">
            <a:off x="93345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683E946E-EC50-404B-8155-83561EF7E060}"/>
              </a:ext>
            </a:extLst>
          </p:cNvPr>
          <p:cNvSpPr>
            <a:spLocks xmlns:a="http://schemas.openxmlformats.org/drawingml/2006/main" noGrp="1"/>
          </p:cNvSpPr>
          <p:nvPr/>
        </p:nvSpPr>
        <p:spPr>
          <a:xfrm xmlns:a="http://schemas.openxmlformats.org/drawingml/2006/main">
            <a:off x="666750" y="1828800"/>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8" name="">
            <a:extLst xmlns:a="http://schemas.openxmlformats.org/drawingml/2006/main">
              <a:ext uri="{FF2B5EF4-FFF2-40B4-BE49-F238E27FC236}">
                <a16:creationId xmlns:a16="http://schemas.microsoft.com/office/drawing/2014/main" id="{05B8A54D-7B6A-4133-829B-4BAD662075A8}"/>
              </a:ext>
            </a:extLst>
          </p:cNvPr>
          <p:cNvSpPr>
            <a:spLocks xmlns:a="http://schemas.openxmlformats.org/drawingml/2006/main" noGrp="1"/>
          </p:cNvSpPr>
          <p:nvPr/>
        </p:nvSpPr>
        <p:spPr>
          <a:xfrm xmlns:a="http://schemas.openxmlformats.org/drawingml/2006/main">
            <a:off x="2528888"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2C89E87-A4C9-4D96-B412-B14A0D150B15}"/>
              </a:ext>
            </a:extLst>
          </p:cNvPr>
          <p:cNvSpPr>
            <a:spLocks xmlns:a="http://schemas.openxmlformats.org/drawingml/2006/main" noGrp="1"/>
          </p:cNvSpPr>
          <p:nvPr/>
        </p:nvSpPr>
        <p:spPr>
          <a:xfrm xmlns:a="http://schemas.openxmlformats.org/drawingml/2006/main">
            <a:off x="1028700" y="2797969"/>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52589E1-053C-41DB-8565-D7898C32215A}"/>
              </a:ext>
            </a:extLst>
          </p:cNvPr>
          <p:cNvSpPr>
            <a:spLocks xmlns:a="http://schemas.openxmlformats.org/drawingml/2006/main" noGrp="1"/>
          </p:cNvSpPr>
          <p:nvPr/>
        </p:nvSpPr>
        <p:spPr>
          <a:xfrm xmlns:a="http://schemas.openxmlformats.org/drawingml/2006/main">
            <a:off x="2433638"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79D59ECD-C3E4-43A6-B880-C0D60C11EE65}"/>
              </a:ext>
            </a:extLst>
          </p:cNvPr>
          <p:cNvSpPr>
            <a:spLocks xmlns:a="http://schemas.openxmlformats.org/drawingml/2006/main" noGrp="1"/>
          </p:cNvSpPr>
          <p:nvPr/>
        </p:nvSpPr>
        <p:spPr>
          <a:xfrm xmlns:a="http://schemas.openxmlformats.org/drawingml/2006/main">
            <a:off x="666750" y="2674144"/>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C43DB37E-1400-4A6C-8317-15A5D2A3D29E}"/>
              </a:ext>
            </a:extLst>
          </p:cNvPr>
          <p:cNvSpPr>
            <a:spLocks xmlns:a="http://schemas.openxmlformats.org/drawingml/2006/main" noGrp="1"/>
          </p:cNvSpPr>
          <p:nvPr/>
        </p:nvSpPr>
        <p:spPr>
          <a:xfrm xmlns:a="http://schemas.openxmlformats.org/drawingml/2006/main">
            <a:off x="4029075"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60F8520-0C20-41C7-8B9A-F2ADE99BE529}"/>
              </a:ext>
            </a:extLst>
          </p:cNvPr>
          <p:cNvSpPr>
            <a:spLocks xmlns:a="http://schemas.openxmlformats.org/drawingml/2006/main" noGrp="1"/>
          </p:cNvSpPr>
          <p:nvPr/>
        </p:nvSpPr>
        <p:spPr>
          <a:xfrm xmlns:a="http://schemas.openxmlformats.org/drawingml/2006/main">
            <a:off x="1028700" y="3643313"/>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40F5F4-E397-4C84-8133-4C75A631E8BE}"/>
              </a:ext>
            </a:extLst>
          </p:cNvPr>
          <p:cNvSpPr>
            <a:spLocks xmlns:a="http://schemas.openxmlformats.org/drawingml/2006/main" noGrp="1"/>
          </p:cNvSpPr>
          <p:nvPr/>
        </p:nvSpPr>
        <p:spPr>
          <a:xfrm xmlns:a="http://schemas.openxmlformats.org/drawingml/2006/main">
            <a:off x="3933825"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BF5C5DC4-7C8D-4A21-BBFC-5372DA0BCB60}"/>
              </a:ext>
            </a:extLst>
          </p:cNvPr>
          <p:cNvSpPr>
            <a:spLocks xmlns:a="http://schemas.openxmlformats.org/drawingml/2006/main" noGrp="1"/>
          </p:cNvSpPr>
          <p:nvPr/>
        </p:nvSpPr>
        <p:spPr>
          <a:xfrm xmlns:a="http://schemas.openxmlformats.org/drawingml/2006/main">
            <a:off x="666750" y="3519488"/>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7E9DB502-0AAA-4419-A634-E1D4BDC68E6C}"/>
              </a:ext>
            </a:extLst>
          </p:cNvPr>
          <p:cNvSpPr>
            <a:spLocks xmlns:a="http://schemas.openxmlformats.org/drawingml/2006/main" noGrp="1"/>
          </p:cNvSpPr>
          <p:nvPr/>
        </p:nvSpPr>
        <p:spPr>
          <a:xfrm xmlns:a="http://schemas.openxmlformats.org/drawingml/2006/main">
            <a:off x="5529263"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E97D2BDE-ED58-456D-B218-8E040BEE1B81}"/>
              </a:ext>
            </a:extLst>
          </p:cNvPr>
          <p:cNvSpPr>
            <a:spLocks xmlns:a="http://schemas.openxmlformats.org/drawingml/2006/main" noGrp="1"/>
          </p:cNvSpPr>
          <p:nvPr/>
        </p:nvSpPr>
        <p:spPr>
          <a:xfrm xmlns:a="http://schemas.openxmlformats.org/drawingml/2006/main">
            <a:off x="1028700" y="4488656"/>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8945B3E1-68B0-4F80-9DF8-7ADCDD2BE51E}"/>
              </a:ext>
            </a:extLst>
          </p:cNvPr>
          <p:cNvSpPr>
            <a:spLocks xmlns:a="http://schemas.openxmlformats.org/drawingml/2006/main" noGrp="1"/>
          </p:cNvSpPr>
          <p:nvPr/>
        </p:nvSpPr>
        <p:spPr>
          <a:xfrm xmlns:a="http://schemas.openxmlformats.org/drawingml/2006/main">
            <a:off x="5434013"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9F887920-F280-491F-872B-F05300CADD5F}"/>
              </a:ext>
            </a:extLst>
          </p:cNvPr>
          <p:cNvSpPr>
            <a:spLocks xmlns:a="http://schemas.openxmlformats.org/drawingml/2006/main" noGrp="1"/>
          </p:cNvSpPr>
          <p:nvPr/>
        </p:nvSpPr>
        <p:spPr>
          <a:xfrm xmlns:a="http://schemas.openxmlformats.org/drawingml/2006/main">
            <a:off x="666750" y="4364831"/>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4289E55B-21C0-47DB-8F61-C16EE8E231EC}"/>
              </a:ext>
            </a:extLst>
          </p:cNvPr>
          <p:cNvSpPr>
            <a:spLocks xmlns:a="http://schemas.openxmlformats.org/drawingml/2006/main" noGrp="1"/>
          </p:cNvSpPr>
          <p:nvPr/>
        </p:nvSpPr>
        <p:spPr>
          <a:xfrm xmlns:a="http://schemas.openxmlformats.org/drawingml/2006/main">
            <a:off x="702945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CC3F12C-2EF4-41FA-B974-FBB21D35A1B9}"/>
              </a:ext>
            </a:extLst>
          </p:cNvPr>
          <p:cNvSpPr>
            <a:spLocks xmlns:a="http://schemas.openxmlformats.org/drawingml/2006/main" noGrp="1"/>
          </p:cNvSpPr>
          <p:nvPr/>
        </p:nvSpPr>
        <p:spPr>
          <a:xfrm xmlns:a="http://schemas.openxmlformats.org/drawingml/2006/main">
            <a:off x="1028700" y="5334000"/>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C99DAC9-7972-430D-BB39-79E33F22811F}"/>
              </a:ext>
            </a:extLst>
          </p:cNvPr>
          <p:cNvSpPr>
            <a:spLocks xmlns:a="http://schemas.openxmlformats.org/drawingml/2006/main" noGrp="1"/>
          </p:cNvSpPr>
          <p:nvPr/>
        </p:nvSpPr>
        <p:spPr>
          <a:xfrm xmlns:a="http://schemas.openxmlformats.org/drawingml/2006/main">
            <a:off x="693420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C70D517B-0797-4C77-ABC4-7AB5B10ED3EB}"/>
              </a:ext>
            </a:extLst>
          </p:cNvPr>
          <p:cNvSpPr>
            <a:spLocks xmlns:a="http://schemas.openxmlformats.org/drawingml/2006/main" noGrp="1"/>
          </p:cNvSpPr>
          <p:nvPr/>
        </p:nvSpPr>
        <p:spPr>
          <a:xfrm xmlns:a="http://schemas.openxmlformats.org/drawingml/2006/main">
            <a:off x="666750" y="5210175"/>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EA66227C-45D4-4E74-811A-ADAD511C3E91}"/>
              </a:ext>
            </a:extLst>
          </p:cNvPr>
          <p:cNvSpPr>
            <a:spLocks xmlns:a="http://schemas.openxmlformats.org/drawingml/2006/main" noGrp="1"/>
          </p:cNvSpPr>
          <p:nvPr/>
        </p:nvSpPr>
        <p:spPr>
          <a:xfrm xmlns:a="http://schemas.openxmlformats.org/drawingml/2006/main">
            <a:off x="857250" y="1571625"/>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Emphasis on teacher support and control</a:t>
            </a:r>
          </a:p>
        </p:txBody>
      </p:sp>
      <p:sp>
        <p:nvSpPr>
          <p:cNvPr id="25" name="">
            <a:extLst xmlns:a="http://schemas.openxmlformats.org/drawingml/2006/main">
              <a:ext uri="{FF2B5EF4-FFF2-40B4-BE49-F238E27FC236}">
                <a16:creationId xmlns:a16="http://schemas.microsoft.com/office/drawing/2014/main" id="{8CC80757-324B-480F-AC7E-2B10263D5947}"/>
              </a:ext>
            </a:extLst>
          </p:cNvPr>
          <p:cNvSpPr>
            <a:spLocks xmlns:a="http://schemas.openxmlformats.org/drawingml/2006/main" noGrp="1"/>
          </p:cNvSpPr>
          <p:nvPr/>
        </p:nvSpPr>
        <p:spPr>
          <a:xfrm xmlns:a="http://schemas.openxmlformats.org/drawingml/2006/main">
            <a:off x="1428750" y="57340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Visibility of curriculum integration</a:t>
            </a:r>
          </a:p>
        </p:txBody>
      </p:sp>
      <p:sp>
        <p:nvSpPr>
          <p:cNvPr id="26" name="">
            <a:extLst xmlns:a="http://schemas.openxmlformats.org/drawingml/2006/main">
              <a:ext uri="{FF2B5EF4-FFF2-40B4-BE49-F238E27FC236}">
                <a16:creationId xmlns:a16="http://schemas.microsoft.com/office/drawing/2014/main" id="{C31B74A0-054A-419C-8053-7C5EB28389E7}"/>
              </a:ext>
            </a:extLst>
          </p:cNvPr>
          <p:cNvSpPr>
            <a:spLocks xmlns:a="http://schemas.openxmlformats.org/drawingml/2006/main" noGrp="1"/>
          </p:cNvSpPr>
          <p:nvPr/>
        </p:nvSpPr>
        <p:spPr>
          <a:xfrm xmlns:a="http://schemas.openxmlformats.org/drawingml/2006/main">
            <a:off x="5357813" y="1781175"/>
            <a:ext cx="342900" cy="342900"/>
          </a:xfrm>
          <a:prstGeom xmlns:a="http://schemas.openxmlformats.org/drawingml/2006/main" prst="ellipse">
            <a:avLst/>
          </a:prstGeom>
          <a:solidFill xmlns:a="http://schemas.openxmlformats.org/drawingml/2006/main">
            <a:srgbClr val="137D87"/>
          </a:solidFill>
          <a:ln xmlns:a="http://schemas.openxmlformats.org/drawingml/2006/main" w="19050">
            <a:solidFill>
              <a:srgbClr val="FFFFFF"/>
            </a:solidFill>
          </a:ln>
        </p:spPr>
      </p:sp>
      <p:sp>
        <p:nvSpPr>
          <p:cNvPr id="27" name="">
            <a:extLst xmlns:a="http://schemas.openxmlformats.org/drawingml/2006/main">
              <a:ext uri="{FF2B5EF4-FFF2-40B4-BE49-F238E27FC236}">
                <a16:creationId xmlns:a16="http://schemas.microsoft.com/office/drawing/2014/main" id="{DE7394CF-F42C-4148-9F5A-B8463ED00A99}"/>
              </a:ext>
            </a:extLst>
          </p:cNvPr>
          <p:cNvSpPr>
            <a:spLocks xmlns:a="http://schemas.openxmlformats.org/drawingml/2006/main" noGrp="1"/>
          </p:cNvSpPr>
          <p:nvPr/>
        </p:nvSpPr>
        <p:spPr>
          <a:xfrm xmlns:a="http://schemas.openxmlformats.org/drawingml/2006/main">
            <a:off x="5434013" y="181927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28" name="">
            <a:extLst xmlns:a="http://schemas.openxmlformats.org/drawingml/2006/main">
              <a:ext uri="{FF2B5EF4-FFF2-40B4-BE49-F238E27FC236}">
                <a16:creationId xmlns:a16="http://schemas.microsoft.com/office/drawing/2014/main" id="{BEBBE358-B8AC-4C2C-AB59-B75B18B8C1B7}"/>
              </a:ext>
            </a:extLst>
          </p:cNvPr>
          <p:cNvSpPr>
            <a:spLocks xmlns:a="http://schemas.openxmlformats.org/drawingml/2006/main" noGrp="1"/>
          </p:cNvSpPr>
          <p:nvPr/>
        </p:nvSpPr>
        <p:spPr>
          <a:xfrm xmlns:a="http://schemas.openxmlformats.org/drawingml/2006/main">
            <a:off x="7762875" y="17811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D87"/>
                </a:solidFill>
                <a:latin typeface="Arial"/>
                <a:ea typeface="Arial"/>
                <a:cs typeface="Arial"/>
              </a:defRPr>
            </a:pPr>
            <a:r>
              <a:rPr sz="1725" b="1">
                <a:solidFill>
                  <a:srgbClr val="137D87"/>
                </a:solidFill>
                <a:latin typeface="Arial"/>
                <a:ea typeface="Arial"/>
                <a:cs typeface="Arial"/>
              </a:rPr>
              <a:t>1  Senpai</a:t>
            </a:r>
          </a:p>
        </p:txBody>
      </p:sp>
      <p:sp>
        <p:nvSpPr>
          <p:cNvPr id="29" name="">
            <a:extLst xmlns:a="http://schemas.openxmlformats.org/drawingml/2006/main">
              <a:ext uri="{FF2B5EF4-FFF2-40B4-BE49-F238E27FC236}">
                <a16:creationId xmlns:a16="http://schemas.microsoft.com/office/drawing/2014/main" id="{57A87F3E-BEE4-4B25-AAE3-2F49B7D8ECB5}"/>
              </a:ext>
            </a:extLst>
          </p:cNvPr>
          <p:cNvSpPr>
            <a:spLocks xmlns:a="http://schemas.openxmlformats.org/drawingml/2006/main" noGrp="1"/>
          </p:cNvSpPr>
          <p:nvPr/>
        </p:nvSpPr>
        <p:spPr>
          <a:xfrm xmlns:a="http://schemas.openxmlformats.org/drawingml/2006/main">
            <a:off x="6858000" y="2626519"/>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0" name="">
            <a:extLst xmlns:a="http://schemas.openxmlformats.org/drawingml/2006/main">
              <a:ext uri="{FF2B5EF4-FFF2-40B4-BE49-F238E27FC236}">
                <a16:creationId xmlns:a16="http://schemas.microsoft.com/office/drawing/2014/main" id="{21EDCF70-9DAE-4909-BD88-9A0EFAF5E6A1}"/>
              </a:ext>
            </a:extLst>
          </p:cNvPr>
          <p:cNvSpPr>
            <a:spLocks xmlns:a="http://schemas.openxmlformats.org/drawingml/2006/main" noGrp="1"/>
          </p:cNvSpPr>
          <p:nvPr/>
        </p:nvSpPr>
        <p:spPr>
          <a:xfrm xmlns:a="http://schemas.openxmlformats.org/drawingml/2006/main">
            <a:off x="6934200" y="2664619"/>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7BE1119D-D3EF-41C3-9BDF-DCC72DD785EE}"/>
              </a:ext>
            </a:extLst>
          </p:cNvPr>
          <p:cNvSpPr>
            <a:spLocks xmlns:a="http://schemas.openxmlformats.org/drawingml/2006/main" noGrp="1"/>
          </p:cNvSpPr>
          <p:nvPr/>
        </p:nvSpPr>
        <p:spPr>
          <a:xfrm xmlns:a="http://schemas.openxmlformats.org/drawingml/2006/main">
            <a:off x="7762875" y="21717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2  LEGO Education</a:t>
            </a:r>
          </a:p>
        </p:txBody>
      </p:sp>
      <p:sp>
        <p:nvSpPr>
          <p:cNvPr id="32" name="">
            <a:extLst xmlns:a="http://schemas.openxmlformats.org/drawingml/2006/main">
              <a:ext uri="{FF2B5EF4-FFF2-40B4-BE49-F238E27FC236}">
                <a16:creationId xmlns:a16="http://schemas.microsoft.com/office/drawing/2014/main" id="{DE8F23FD-29B1-4AF4-A8E7-2CAEA9920CA2}"/>
              </a:ext>
            </a:extLst>
          </p:cNvPr>
          <p:cNvSpPr>
            <a:spLocks xmlns:a="http://schemas.openxmlformats.org/drawingml/2006/main" noGrp="1"/>
          </p:cNvSpPr>
          <p:nvPr/>
        </p:nvSpPr>
        <p:spPr>
          <a:xfrm xmlns:a="http://schemas.openxmlformats.org/drawingml/2006/main">
            <a:off x="5357813" y="2626519"/>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3" name="">
            <a:extLst xmlns:a="http://schemas.openxmlformats.org/drawingml/2006/main">
              <a:ext uri="{FF2B5EF4-FFF2-40B4-BE49-F238E27FC236}">
                <a16:creationId xmlns:a16="http://schemas.microsoft.com/office/drawing/2014/main" id="{86DF5421-AAA6-468F-8352-587B0BFC1F24}"/>
              </a:ext>
            </a:extLst>
          </p:cNvPr>
          <p:cNvSpPr>
            <a:spLocks xmlns:a="http://schemas.openxmlformats.org/drawingml/2006/main" noGrp="1"/>
          </p:cNvSpPr>
          <p:nvPr/>
        </p:nvSpPr>
        <p:spPr>
          <a:xfrm xmlns:a="http://schemas.openxmlformats.org/drawingml/2006/main">
            <a:off x="5434013" y="2664619"/>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34" name="">
            <a:extLst xmlns:a="http://schemas.openxmlformats.org/drawingml/2006/main">
              <a:ext uri="{FF2B5EF4-FFF2-40B4-BE49-F238E27FC236}">
                <a16:creationId xmlns:a16="http://schemas.microsoft.com/office/drawing/2014/main" id="{676039CA-AB99-4B61-BC0B-2E19E2723FF7}"/>
              </a:ext>
            </a:extLst>
          </p:cNvPr>
          <p:cNvSpPr>
            <a:spLocks xmlns:a="http://schemas.openxmlformats.org/drawingml/2006/main" noGrp="1"/>
          </p:cNvSpPr>
          <p:nvPr/>
        </p:nvSpPr>
        <p:spPr>
          <a:xfrm xmlns:a="http://schemas.openxmlformats.org/drawingml/2006/main">
            <a:off x="7762875" y="25622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3  Sphero</a:t>
            </a:r>
          </a:p>
        </p:txBody>
      </p:sp>
      <p:sp>
        <p:nvSpPr>
          <p:cNvPr id="35" name="">
            <a:extLst xmlns:a="http://schemas.openxmlformats.org/drawingml/2006/main">
              <a:ext uri="{FF2B5EF4-FFF2-40B4-BE49-F238E27FC236}">
                <a16:creationId xmlns:a16="http://schemas.microsoft.com/office/drawing/2014/main" id="{DBF8FC21-3972-441E-ACB4-22C8E789AD62}"/>
              </a:ext>
            </a:extLst>
          </p:cNvPr>
          <p:cNvSpPr>
            <a:spLocks xmlns:a="http://schemas.openxmlformats.org/drawingml/2006/main" noGrp="1"/>
          </p:cNvSpPr>
          <p:nvPr/>
        </p:nvSpPr>
        <p:spPr>
          <a:xfrm xmlns:a="http://schemas.openxmlformats.org/drawingml/2006/main">
            <a:off x="3857625" y="3471863"/>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6" name="">
            <a:extLst xmlns:a="http://schemas.openxmlformats.org/drawingml/2006/main">
              <a:ext uri="{FF2B5EF4-FFF2-40B4-BE49-F238E27FC236}">
                <a16:creationId xmlns:a16="http://schemas.microsoft.com/office/drawing/2014/main" id="{93134D98-46E8-4FCF-AF4B-0AB60930F3F9}"/>
              </a:ext>
            </a:extLst>
          </p:cNvPr>
          <p:cNvSpPr>
            <a:spLocks xmlns:a="http://schemas.openxmlformats.org/drawingml/2006/main" noGrp="1"/>
          </p:cNvSpPr>
          <p:nvPr/>
        </p:nvSpPr>
        <p:spPr>
          <a:xfrm xmlns:a="http://schemas.openxmlformats.org/drawingml/2006/main">
            <a:off x="3933825" y="3509963"/>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37" name="">
            <a:extLst xmlns:a="http://schemas.openxmlformats.org/drawingml/2006/main">
              <a:ext uri="{FF2B5EF4-FFF2-40B4-BE49-F238E27FC236}">
                <a16:creationId xmlns:a16="http://schemas.microsoft.com/office/drawing/2014/main" id="{BBC71F49-1EF7-4960-9E7B-A34D5AC7A4B2}"/>
              </a:ext>
            </a:extLst>
          </p:cNvPr>
          <p:cNvSpPr>
            <a:spLocks xmlns:a="http://schemas.openxmlformats.org/drawingml/2006/main" noGrp="1"/>
          </p:cNvSpPr>
          <p:nvPr/>
        </p:nvSpPr>
        <p:spPr>
          <a:xfrm xmlns:a="http://schemas.openxmlformats.org/drawingml/2006/main">
            <a:off x="7762875" y="29527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4  Makeblock</a:t>
            </a:r>
          </a:p>
        </p:txBody>
      </p:sp>
      <p:sp>
        <p:nvSpPr>
          <p:cNvPr id="38" name="">
            <a:extLst xmlns:a="http://schemas.openxmlformats.org/drawingml/2006/main">
              <a:ext uri="{FF2B5EF4-FFF2-40B4-BE49-F238E27FC236}">
                <a16:creationId xmlns:a16="http://schemas.microsoft.com/office/drawing/2014/main" id="{69B12DFC-1539-4E4E-814C-363E1AD5CD61}"/>
              </a:ext>
            </a:extLst>
          </p:cNvPr>
          <p:cNvSpPr>
            <a:spLocks xmlns:a="http://schemas.openxmlformats.org/drawingml/2006/main" noGrp="1"/>
          </p:cNvSpPr>
          <p:nvPr/>
        </p:nvSpPr>
        <p:spPr>
          <a:xfrm xmlns:a="http://schemas.openxmlformats.org/drawingml/2006/main">
            <a:off x="6858000" y="3471863"/>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9" name="">
            <a:extLst xmlns:a="http://schemas.openxmlformats.org/drawingml/2006/main">
              <a:ext uri="{FF2B5EF4-FFF2-40B4-BE49-F238E27FC236}">
                <a16:creationId xmlns:a16="http://schemas.microsoft.com/office/drawing/2014/main" id="{72B82E33-7BCE-4028-913A-78B0FB005676}"/>
              </a:ext>
            </a:extLst>
          </p:cNvPr>
          <p:cNvSpPr>
            <a:spLocks xmlns:a="http://schemas.openxmlformats.org/drawingml/2006/main" noGrp="1"/>
          </p:cNvSpPr>
          <p:nvPr/>
        </p:nvSpPr>
        <p:spPr>
          <a:xfrm xmlns:a="http://schemas.openxmlformats.org/drawingml/2006/main">
            <a:off x="6934200" y="3509963"/>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5</a:t>
            </a:r>
          </a:p>
        </p:txBody>
      </p:sp>
      <p:sp>
        <p:nvSpPr>
          <p:cNvPr id="40" name="">
            <a:extLst xmlns:a="http://schemas.openxmlformats.org/drawingml/2006/main">
              <a:ext uri="{FF2B5EF4-FFF2-40B4-BE49-F238E27FC236}">
                <a16:creationId xmlns:a16="http://schemas.microsoft.com/office/drawing/2014/main" id="{63DD9C88-57E0-483D-99AC-7C823EB4CA84}"/>
              </a:ext>
            </a:extLst>
          </p:cNvPr>
          <p:cNvSpPr>
            <a:spLocks xmlns:a="http://schemas.openxmlformats.org/drawingml/2006/main" noGrp="1"/>
          </p:cNvSpPr>
          <p:nvPr/>
        </p:nvSpPr>
        <p:spPr>
          <a:xfrm xmlns:a="http://schemas.openxmlformats.org/drawingml/2006/main">
            <a:off x="7762875" y="33432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5  UBTECH Education</a:t>
            </a:r>
          </a:p>
        </p:txBody>
      </p:sp>
      <p:sp>
        <p:nvSpPr>
          <p:cNvPr id="41" name="">
            <a:extLst xmlns:a="http://schemas.openxmlformats.org/drawingml/2006/main">
              <a:ext uri="{FF2B5EF4-FFF2-40B4-BE49-F238E27FC236}">
                <a16:creationId xmlns:a16="http://schemas.microsoft.com/office/drawing/2014/main" id="{A9980B3F-46A1-4CFC-8070-B45D22ED9C8D}"/>
              </a:ext>
            </a:extLst>
          </p:cNvPr>
          <p:cNvSpPr>
            <a:spLocks xmlns:a="http://schemas.openxmlformats.org/drawingml/2006/main" noGrp="1"/>
          </p:cNvSpPr>
          <p:nvPr/>
        </p:nvSpPr>
        <p:spPr>
          <a:xfrm xmlns:a="http://schemas.openxmlformats.org/drawingml/2006/main">
            <a:off x="6858000" y="1781175"/>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42" name="">
            <a:extLst xmlns:a="http://schemas.openxmlformats.org/drawingml/2006/main">
              <a:ext uri="{FF2B5EF4-FFF2-40B4-BE49-F238E27FC236}">
                <a16:creationId xmlns:a16="http://schemas.microsoft.com/office/drawing/2014/main" id="{BF0FA187-4D5C-4DED-95EC-F88F36B79719}"/>
              </a:ext>
            </a:extLst>
          </p:cNvPr>
          <p:cNvSpPr>
            <a:spLocks xmlns:a="http://schemas.openxmlformats.org/drawingml/2006/main" noGrp="1"/>
          </p:cNvSpPr>
          <p:nvPr/>
        </p:nvSpPr>
        <p:spPr>
          <a:xfrm xmlns:a="http://schemas.openxmlformats.org/drawingml/2006/main">
            <a:off x="6934200" y="181927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6</a:t>
            </a:r>
          </a:p>
        </p:txBody>
      </p:sp>
      <p:sp>
        <p:nvSpPr>
          <p:cNvPr id="43" name="">
            <a:extLst xmlns:a="http://schemas.openxmlformats.org/drawingml/2006/main">
              <a:ext uri="{FF2B5EF4-FFF2-40B4-BE49-F238E27FC236}">
                <a16:creationId xmlns:a16="http://schemas.microsoft.com/office/drawing/2014/main" id="{452A3C90-00F2-4BC8-98B5-5DB6DDB26F6A}"/>
              </a:ext>
            </a:extLst>
          </p:cNvPr>
          <p:cNvSpPr>
            <a:spLocks xmlns:a="http://schemas.openxmlformats.org/drawingml/2006/main" noGrp="1"/>
          </p:cNvSpPr>
          <p:nvPr/>
        </p:nvSpPr>
        <p:spPr>
          <a:xfrm xmlns:a="http://schemas.openxmlformats.org/drawingml/2006/main">
            <a:off x="7762875" y="37338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6  Ozobot</a:t>
            </a:r>
          </a:p>
        </p:txBody>
      </p:sp>
      <p:sp>
        <p:nvSpPr>
          <p:cNvPr id="44" name="">
            <a:extLst xmlns:a="http://schemas.openxmlformats.org/drawingml/2006/main">
              <a:ext uri="{FF2B5EF4-FFF2-40B4-BE49-F238E27FC236}">
                <a16:creationId xmlns:a16="http://schemas.microsoft.com/office/drawing/2014/main" id="{B11A2149-678B-4E9A-A962-A2C6C82B0E67}"/>
              </a:ext>
            </a:extLst>
          </p:cNvPr>
          <p:cNvSpPr>
            <a:spLocks xmlns:a="http://schemas.openxmlformats.org/drawingml/2006/main" noGrp="1"/>
          </p:cNvSpPr>
          <p:nvPr/>
        </p:nvSpPr>
        <p:spPr>
          <a:xfrm xmlns:a="http://schemas.openxmlformats.org/drawingml/2006/main">
            <a:off x="7762875" y="4276725"/>
            <a:ext cx="361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751E"/>
                </a:solidFill>
                <a:latin typeface="Arial"/>
                <a:ea typeface="Arial"/>
                <a:cs typeface="Arial"/>
              </a:defRPr>
            </a:pPr>
            <a:r>
              <a:rPr sz="1500" b="1">
                <a:solidFill>
                  <a:srgbClr val="B9751E"/>
                </a:solidFill>
                <a:latin typeface="Arial"/>
                <a:ea typeface="Arial"/>
                <a:cs typeface="Arial"/>
              </a:rPr>
              <a:t>HYPOTHESIS</a:t>
            </a:r>
          </a:p>
        </p:txBody>
      </p:sp>
      <p:sp>
        <p:nvSpPr>
          <p:cNvPr id="45" name="">
            <a:extLst xmlns:a="http://schemas.openxmlformats.org/drawingml/2006/main">
              <a:ext uri="{FF2B5EF4-FFF2-40B4-BE49-F238E27FC236}">
                <a16:creationId xmlns:a16="http://schemas.microsoft.com/office/drawing/2014/main" id="{644636A7-481F-4A95-A170-6986B088A4EE}"/>
              </a:ext>
            </a:extLst>
          </p:cNvPr>
          <p:cNvSpPr>
            <a:spLocks xmlns:a="http://schemas.openxmlformats.org/drawingml/2006/main" noGrp="1"/>
          </p:cNvSpPr>
          <p:nvPr/>
        </p:nvSpPr>
        <p:spPr>
          <a:xfrm xmlns:a="http://schemas.openxmlformats.org/drawingml/2006/main">
            <a:off x="7762875" y="4667250"/>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teacher-directed adaptation with an inspectable lesson and correction process.</a:t>
            </a:r>
          </a:p>
        </p:txBody>
      </p:sp>
    </p:spTree>
    <p:extLst>
      <p:ext uri="{BB962C8B-B14F-4D97-AF65-F5344CB8AC3E}">
        <p14:creationId xmlns:p14="http://schemas.microsoft.com/office/powerpoint/2010/main" val="2921111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C3BF43-9FA4-4DDE-8F73-EE9FB388EC0B}"/>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Senpai evidence behind the map</a:t>
            </a:r>
          </a:p>
        </p:txBody>
      </p:sp>
      <p:sp>
        <p:nvSpPr>
          <p:cNvPr id="2" name="">
            <a:extLst xmlns:a="http://schemas.openxmlformats.org/drawingml/2006/main">
              <a:ext uri="{FF2B5EF4-FFF2-40B4-BE49-F238E27FC236}">
                <a16:creationId xmlns:a16="http://schemas.microsoft.com/office/drawing/2014/main" id="{F542D12D-CF12-4497-BB85-A99CDDB3DF95}"/>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EVIDENCE   /   Company statements and visible resources   /   Accessed 5 October 2026</a:t>
            </a:r>
          </a:p>
        </p:txBody>
      </p:sp>
      <p:sp>
        <p:nvSpPr>
          <p:cNvPr id="3" name="">
            <a:extLst xmlns:a="http://schemas.openxmlformats.org/drawingml/2006/main">
              <a:ext uri="{FF2B5EF4-FFF2-40B4-BE49-F238E27FC236}">
                <a16:creationId xmlns:a16="http://schemas.microsoft.com/office/drawing/2014/main" id="{32883B1B-E507-4EC6-829C-044FDC156325}"/>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6</a:t>
            </a:r>
          </a:p>
        </p:txBody>
      </p:sp>
      <p:sp>
        <p:nvSpPr>
          <p:cNvPr id="4" name="">
            <a:extLst xmlns:a="http://schemas.openxmlformats.org/drawingml/2006/main">
              <a:ext uri="{FF2B5EF4-FFF2-40B4-BE49-F238E27FC236}">
                <a16:creationId xmlns:a16="http://schemas.microsoft.com/office/drawing/2014/main" id="{E82456B9-A168-4B21-A3C6-39CE7B444D51}"/>
              </a:ext>
            </a:extLst>
          </p:cNvPr>
          <p:cNvSpPr>
            <a:spLocks xmlns:a="http://schemas.openxmlformats.org/drawingml/2006/main" noGrp="1"/>
          </p:cNvSpPr>
          <p:nvPr/>
        </p:nvSpPr>
        <p:spPr>
          <a:xfrm xmlns:a="http://schemas.openxmlformats.org/drawingml/2006/main">
            <a:off x="571500" y="1714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7D87"/>
                </a:solidFill>
                <a:latin typeface="Arial"/>
                <a:ea typeface="Arial"/>
                <a:cs typeface="Arial"/>
              </a:defRPr>
            </a:pPr>
            <a:r>
              <a:rPr sz="1650" b="1">
                <a:solidFill>
                  <a:srgbClr val="137D87"/>
                </a:solidFill>
                <a:latin typeface="Arial"/>
                <a:ea typeface="Arial"/>
                <a:cs typeface="Arial"/>
              </a:rPr>
              <a:t>1  Senpai</a:t>
            </a:r>
          </a:p>
        </p:txBody>
      </p:sp>
      <p:sp>
        <p:nvSpPr>
          <p:cNvPr id="5" name="">
            <a:extLst xmlns:a="http://schemas.openxmlformats.org/drawingml/2006/main">
              <a:ext uri="{FF2B5EF4-FFF2-40B4-BE49-F238E27FC236}">
                <a16:creationId xmlns:a16="http://schemas.microsoft.com/office/drawing/2014/main" id="{863F190F-D1AC-460B-8D27-BA12BD2A3148}"/>
              </a:ext>
            </a:extLst>
          </p:cNvPr>
          <p:cNvSpPr>
            <a:spLocks xmlns:a="http://schemas.openxmlformats.org/drawingml/2006/main" noGrp="1"/>
          </p:cNvSpPr>
          <p:nvPr/>
        </p:nvSpPr>
        <p:spPr>
          <a:xfrm xmlns:a="http://schemas.openxmlformats.org/drawingml/2006/main">
            <a:off x="3095625" y="1714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Curriculum and teacher-override design intentions. These are not verified classroom outcomes.</a:t>
            </a:r>
          </a:p>
        </p:txBody>
      </p:sp>
      <p:sp>
        <p:nvSpPr>
          <p:cNvPr id="6" name="">
            <a:extLst xmlns:a="http://schemas.openxmlformats.org/drawingml/2006/main">
              <a:ext uri="{FF2B5EF4-FFF2-40B4-BE49-F238E27FC236}">
                <a16:creationId xmlns:a16="http://schemas.microsoft.com/office/drawing/2014/main" id="{B926BA81-1404-4CE6-93B2-F28CD65C521C}"/>
              </a:ext>
            </a:extLst>
          </p:cNvPr>
          <p:cNvSpPr>
            <a:spLocks xmlns:a="http://schemas.openxmlformats.org/drawingml/2006/main" noGrp="1"/>
          </p:cNvSpPr>
          <p:nvPr/>
        </p:nvSpPr>
        <p:spPr>
          <a:xfrm xmlns:a="http://schemas.openxmlformats.org/drawingml/2006/main">
            <a:off x="3095625" y="2181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https://www.ingendynamics.com/senpai.html</a:t>
            </a:r>
          </a:p>
        </p:txBody>
      </p:sp>
      <p:sp>
        <p:nvSpPr>
          <p:cNvPr id="7" name="">
            <a:extLst xmlns:a="http://schemas.openxmlformats.org/drawingml/2006/main">
              <a:ext uri="{FF2B5EF4-FFF2-40B4-BE49-F238E27FC236}">
                <a16:creationId xmlns:a16="http://schemas.microsoft.com/office/drawing/2014/main" id="{D7950CE7-22FB-4EDD-879D-01D2ACF5AF6B}"/>
              </a:ext>
            </a:extLst>
          </p:cNvPr>
          <p:cNvSpPr>
            <a:spLocks xmlns:a="http://schemas.openxmlformats.org/drawingml/2006/main" noGrp="1"/>
          </p:cNvSpPr>
          <p:nvPr/>
        </p:nvSpPr>
        <p:spPr>
          <a:xfrm xmlns:a="http://schemas.openxmlformats.org/drawingml/2006/main">
            <a:off x="571500" y="24003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2  LEGO Education</a:t>
            </a:r>
          </a:p>
        </p:txBody>
      </p:sp>
      <p:sp>
        <p:nvSpPr>
          <p:cNvPr id="8" name="">
            <a:extLst xmlns:a="http://schemas.openxmlformats.org/drawingml/2006/main">
              <a:ext uri="{FF2B5EF4-FFF2-40B4-BE49-F238E27FC236}">
                <a16:creationId xmlns:a16="http://schemas.microsoft.com/office/drawing/2014/main" id="{6D11F360-E7F1-4D06-9D6E-E439893302CD}"/>
              </a:ext>
            </a:extLst>
          </p:cNvPr>
          <p:cNvSpPr>
            <a:spLocks xmlns:a="http://schemas.openxmlformats.org/drawingml/2006/main" noGrp="1"/>
          </p:cNvSpPr>
          <p:nvPr/>
        </p:nvSpPr>
        <p:spPr>
          <a:xfrm xmlns:a="http://schemas.openxmlformats.org/drawingml/2006/main">
            <a:off x="3095625" y="24003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Grade-specific offerings, teacher resources and professional learning.</a:t>
            </a:r>
          </a:p>
        </p:txBody>
      </p:sp>
      <p:sp>
        <p:nvSpPr>
          <p:cNvPr id="9" name="">
            <a:extLst xmlns:a="http://schemas.openxmlformats.org/drawingml/2006/main">
              <a:ext uri="{FF2B5EF4-FFF2-40B4-BE49-F238E27FC236}">
                <a16:creationId xmlns:a16="http://schemas.microsoft.com/office/drawing/2014/main" id="{D17A8621-2831-434F-895A-F508DF33AE39}"/>
              </a:ext>
            </a:extLst>
          </p:cNvPr>
          <p:cNvSpPr>
            <a:spLocks xmlns:a="http://schemas.openxmlformats.org/drawingml/2006/main" noGrp="1"/>
          </p:cNvSpPr>
          <p:nvPr/>
        </p:nvSpPr>
        <p:spPr>
          <a:xfrm xmlns:a="http://schemas.openxmlformats.org/drawingml/2006/main">
            <a:off x="3095625" y="28670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https://education.lego.com/en-us/</a:t>
            </a:r>
          </a:p>
        </p:txBody>
      </p:sp>
      <p:sp>
        <p:nvSpPr>
          <p:cNvPr id="10" name="">
            <a:extLst xmlns:a="http://schemas.openxmlformats.org/drawingml/2006/main">
              <a:ext uri="{FF2B5EF4-FFF2-40B4-BE49-F238E27FC236}">
                <a16:creationId xmlns:a16="http://schemas.microsoft.com/office/drawing/2014/main" id="{730974AB-CF70-441E-A25F-42D9E2A17F46}"/>
              </a:ext>
            </a:extLst>
          </p:cNvPr>
          <p:cNvSpPr>
            <a:spLocks xmlns:a="http://schemas.openxmlformats.org/drawingml/2006/main" noGrp="1"/>
          </p:cNvSpPr>
          <p:nvPr/>
        </p:nvSpPr>
        <p:spPr>
          <a:xfrm xmlns:a="http://schemas.openxmlformats.org/drawingml/2006/main">
            <a:off x="571500" y="30861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3  Sphero</a:t>
            </a:r>
          </a:p>
        </p:txBody>
      </p:sp>
      <p:sp>
        <p:nvSpPr>
          <p:cNvPr id="11" name="">
            <a:extLst xmlns:a="http://schemas.openxmlformats.org/drawingml/2006/main">
              <a:ext uri="{FF2B5EF4-FFF2-40B4-BE49-F238E27FC236}">
                <a16:creationId xmlns:a16="http://schemas.microsoft.com/office/drawing/2014/main" id="{6CF0B628-4F34-43EF-8370-68417AA34D19}"/>
              </a:ext>
            </a:extLst>
          </p:cNvPr>
          <p:cNvSpPr>
            <a:spLocks xmlns:a="http://schemas.openxmlformats.org/drawingml/2006/main" noGrp="1"/>
          </p:cNvSpPr>
          <p:nvPr/>
        </p:nvSpPr>
        <p:spPr>
          <a:xfrm xmlns:a="http://schemas.openxmlformats.org/drawingml/2006/main">
            <a:off x="3095625" y="30861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Grade-specific robotics, standards-aligned lessons and educator training resources.</a:t>
            </a:r>
          </a:p>
        </p:txBody>
      </p:sp>
      <p:sp>
        <p:nvSpPr>
          <p:cNvPr id="12" name="">
            <a:extLst xmlns:a="http://schemas.openxmlformats.org/drawingml/2006/main">
              <a:ext uri="{FF2B5EF4-FFF2-40B4-BE49-F238E27FC236}">
                <a16:creationId xmlns:a16="http://schemas.microsoft.com/office/drawing/2014/main" id="{B8270AFD-F0D7-41B1-904A-0C07F5AB95B4}"/>
              </a:ext>
            </a:extLst>
          </p:cNvPr>
          <p:cNvSpPr>
            <a:spLocks xmlns:a="http://schemas.openxmlformats.org/drawingml/2006/main" noGrp="1"/>
          </p:cNvSpPr>
          <p:nvPr/>
        </p:nvSpPr>
        <p:spPr>
          <a:xfrm xmlns:a="http://schemas.openxmlformats.org/drawingml/2006/main">
            <a:off x="3095625" y="35528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https://sphero.com/</a:t>
            </a:r>
          </a:p>
        </p:txBody>
      </p:sp>
      <p:sp>
        <p:nvSpPr>
          <p:cNvPr id="13" name="">
            <a:extLst xmlns:a="http://schemas.openxmlformats.org/drawingml/2006/main">
              <a:ext uri="{FF2B5EF4-FFF2-40B4-BE49-F238E27FC236}">
                <a16:creationId xmlns:a16="http://schemas.microsoft.com/office/drawing/2014/main" id="{7C43CD0B-D4BC-4E82-804C-5FFC97694D24}"/>
              </a:ext>
            </a:extLst>
          </p:cNvPr>
          <p:cNvSpPr>
            <a:spLocks xmlns:a="http://schemas.openxmlformats.org/drawingml/2006/main" noGrp="1"/>
          </p:cNvSpPr>
          <p:nvPr/>
        </p:nvSpPr>
        <p:spPr>
          <a:xfrm xmlns:a="http://schemas.openxmlformats.org/drawingml/2006/main">
            <a:off x="571500" y="37719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4  Makeblock</a:t>
            </a:r>
          </a:p>
        </p:txBody>
      </p:sp>
      <p:sp>
        <p:nvSpPr>
          <p:cNvPr id="14" name="">
            <a:extLst xmlns:a="http://schemas.openxmlformats.org/drawingml/2006/main">
              <a:ext uri="{FF2B5EF4-FFF2-40B4-BE49-F238E27FC236}">
                <a16:creationId xmlns:a16="http://schemas.microsoft.com/office/drawing/2014/main" id="{731E5D09-3B74-41F3-A81C-941B4C3ADFE7}"/>
              </a:ext>
            </a:extLst>
          </p:cNvPr>
          <p:cNvSpPr>
            <a:spLocks xmlns:a="http://schemas.openxmlformats.org/drawingml/2006/main" noGrp="1"/>
          </p:cNvSpPr>
          <p:nvPr/>
        </p:nvSpPr>
        <p:spPr>
          <a:xfrm xmlns:a="http://schemas.openxmlformats.org/drawingml/2006/main">
            <a:off x="3095625" y="37719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Lessons, projects and teacher training alongside coding robot kits.</a:t>
            </a:r>
          </a:p>
        </p:txBody>
      </p:sp>
      <p:sp>
        <p:nvSpPr>
          <p:cNvPr id="15" name="">
            <a:extLst xmlns:a="http://schemas.openxmlformats.org/drawingml/2006/main">
              <a:ext uri="{FF2B5EF4-FFF2-40B4-BE49-F238E27FC236}">
                <a16:creationId xmlns:a16="http://schemas.microsoft.com/office/drawing/2014/main" id="{FE9C66F8-3DAD-4660-84C9-798D20EBAAE3}"/>
              </a:ext>
            </a:extLst>
          </p:cNvPr>
          <p:cNvSpPr>
            <a:spLocks xmlns:a="http://schemas.openxmlformats.org/drawingml/2006/main" noGrp="1"/>
          </p:cNvSpPr>
          <p:nvPr/>
        </p:nvSpPr>
        <p:spPr>
          <a:xfrm xmlns:a="http://schemas.openxmlformats.org/drawingml/2006/main">
            <a:off x="3095625" y="42386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https://www.makeblock.com/</a:t>
            </a:r>
          </a:p>
        </p:txBody>
      </p:sp>
      <p:sp>
        <p:nvSpPr>
          <p:cNvPr id="16" name="">
            <a:extLst xmlns:a="http://schemas.openxmlformats.org/drawingml/2006/main">
              <a:ext uri="{FF2B5EF4-FFF2-40B4-BE49-F238E27FC236}">
                <a16:creationId xmlns:a16="http://schemas.microsoft.com/office/drawing/2014/main" id="{9C6C5700-E746-444C-920C-38385449A1FB}"/>
              </a:ext>
            </a:extLst>
          </p:cNvPr>
          <p:cNvSpPr>
            <a:spLocks xmlns:a="http://schemas.openxmlformats.org/drawingml/2006/main" noGrp="1"/>
          </p:cNvSpPr>
          <p:nvPr/>
        </p:nvSpPr>
        <p:spPr>
          <a:xfrm xmlns:a="http://schemas.openxmlformats.org/drawingml/2006/main">
            <a:off x="571500" y="44577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5  UBTECH Education</a:t>
            </a:r>
          </a:p>
        </p:txBody>
      </p:sp>
      <p:sp>
        <p:nvSpPr>
          <p:cNvPr id="17" name="">
            <a:extLst xmlns:a="http://schemas.openxmlformats.org/drawingml/2006/main">
              <a:ext uri="{FF2B5EF4-FFF2-40B4-BE49-F238E27FC236}">
                <a16:creationId xmlns:a16="http://schemas.microsoft.com/office/drawing/2014/main" id="{16C81BF8-7061-4481-A415-C664426B0221}"/>
              </a:ext>
            </a:extLst>
          </p:cNvPr>
          <p:cNvSpPr>
            <a:spLocks xmlns:a="http://schemas.openxmlformats.org/drawingml/2006/main" noGrp="1"/>
          </p:cNvSpPr>
          <p:nvPr/>
        </p:nvSpPr>
        <p:spPr>
          <a:xfrm xmlns:a="http://schemas.openxmlformats.org/drawingml/2006/main">
            <a:off x="3095625" y="44577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Systematic K–12 AI curriculum and school implementation examples.</a:t>
            </a:r>
          </a:p>
        </p:txBody>
      </p:sp>
      <p:sp>
        <p:nvSpPr>
          <p:cNvPr id="18" name="">
            <a:extLst xmlns:a="http://schemas.openxmlformats.org/drawingml/2006/main">
              <a:ext uri="{FF2B5EF4-FFF2-40B4-BE49-F238E27FC236}">
                <a16:creationId xmlns:a16="http://schemas.microsoft.com/office/drawing/2014/main" id="{208EDC3A-AD27-46A6-86E1-4661BDEAAB46}"/>
              </a:ext>
            </a:extLst>
          </p:cNvPr>
          <p:cNvSpPr>
            <a:spLocks xmlns:a="http://schemas.openxmlformats.org/drawingml/2006/main" noGrp="1"/>
          </p:cNvSpPr>
          <p:nvPr/>
        </p:nvSpPr>
        <p:spPr>
          <a:xfrm xmlns:a="http://schemas.openxmlformats.org/drawingml/2006/main">
            <a:off x="3095625" y="49244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https://www.ubtrobot.com/en/ai-education</a:t>
            </a:r>
          </a:p>
        </p:txBody>
      </p:sp>
      <p:sp>
        <p:nvSpPr>
          <p:cNvPr id="19" name="">
            <a:extLst xmlns:a="http://schemas.openxmlformats.org/drawingml/2006/main">
              <a:ext uri="{FF2B5EF4-FFF2-40B4-BE49-F238E27FC236}">
                <a16:creationId xmlns:a16="http://schemas.microsoft.com/office/drawing/2014/main" id="{7DB3BB26-033A-4C36-97F0-BE95D1245D3D}"/>
              </a:ext>
            </a:extLst>
          </p:cNvPr>
          <p:cNvSpPr>
            <a:spLocks xmlns:a="http://schemas.openxmlformats.org/drawingml/2006/main" noGrp="1"/>
          </p:cNvSpPr>
          <p:nvPr/>
        </p:nvSpPr>
        <p:spPr>
          <a:xfrm xmlns:a="http://schemas.openxmlformats.org/drawingml/2006/main">
            <a:off x="571500" y="5143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6  Ozobot</a:t>
            </a:r>
          </a:p>
        </p:txBody>
      </p:sp>
      <p:sp>
        <p:nvSpPr>
          <p:cNvPr id="20" name="">
            <a:extLst xmlns:a="http://schemas.openxmlformats.org/drawingml/2006/main">
              <a:ext uri="{FF2B5EF4-FFF2-40B4-BE49-F238E27FC236}">
                <a16:creationId xmlns:a16="http://schemas.microsoft.com/office/drawing/2014/main" id="{21D37210-777E-4381-BC1A-5BDB1F2BC989}"/>
              </a:ext>
            </a:extLst>
          </p:cNvPr>
          <p:cNvSpPr>
            <a:spLocks xmlns:a="http://schemas.openxmlformats.org/drawingml/2006/main" noGrp="1"/>
          </p:cNvSpPr>
          <p:nvPr/>
        </p:nvSpPr>
        <p:spPr>
          <a:xfrm xmlns:a="http://schemas.openxmlformats.org/drawingml/2006/main">
            <a:off x="3095625" y="5143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Standards-aligned curriculum, pacing guides, educator support and classroom resources.</a:t>
            </a:r>
          </a:p>
        </p:txBody>
      </p:sp>
      <p:sp>
        <p:nvSpPr>
          <p:cNvPr id="21" name="">
            <a:extLst xmlns:a="http://schemas.openxmlformats.org/drawingml/2006/main">
              <a:ext uri="{FF2B5EF4-FFF2-40B4-BE49-F238E27FC236}">
                <a16:creationId xmlns:a16="http://schemas.microsoft.com/office/drawing/2014/main" id="{77495A25-1946-480C-BFFE-A46742AAA353}"/>
              </a:ext>
            </a:extLst>
          </p:cNvPr>
          <p:cNvSpPr>
            <a:spLocks xmlns:a="http://schemas.openxmlformats.org/drawingml/2006/main" noGrp="1"/>
          </p:cNvSpPr>
          <p:nvPr/>
        </p:nvSpPr>
        <p:spPr>
          <a:xfrm xmlns:a="http://schemas.openxmlformats.org/drawingml/2006/main">
            <a:off x="3095625" y="5610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https://ozobot.com/</a:t>
            </a:r>
          </a:p>
        </p:txBody>
      </p:sp>
      <p:sp>
        <p:nvSpPr>
          <p:cNvPr id="22" name="">
            <a:extLst xmlns:a="http://schemas.openxmlformats.org/drawingml/2006/main">
              <a:ext uri="{FF2B5EF4-FFF2-40B4-BE49-F238E27FC236}">
                <a16:creationId xmlns:a16="http://schemas.microsoft.com/office/drawing/2014/main" id="{8440E312-ED94-4002-9312-78E49AAE2759}"/>
              </a:ext>
            </a:extLst>
          </p:cNvPr>
          <p:cNvSpPr>
            <a:spLocks xmlns:a="http://schemas.openxmlformats.org/drawingml/2006/main" noGrp="1"/>
          </p:cNvSpPr>
          <p:nvPr/>
        </p:nvSpPr>
        <p:spPr>
          <a:xfrm xmlns:a="http://schemas.openxmlformats.org/drawingml/2006/main">
            <a:off x="571500" y="59817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Comparison set: LEGO Education (adjacent), Sphero (adjacent), Makeblock (adjacent), UBTECH Education, Ozobot (adjacent)</a:t>
            </a:r>
          </a:p>
        </p:txBody>
      </p:sp>
    </p:spTree>
    <p:extLst>
      <p:ext uri="{BB962C8B-B14F-4D97-AF65-F5344CB8AC3E}">
        <p14:creationId xmlns:p14="http://schemas.microsoft.com/office/powerpoint/2010/main" val="7698608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B4F438A7-AFF0-4DF6-B9EA-9F832C435D49}"/>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Rover needs a clear incident handoff</a:t>
            </a:r>
          </a:p>
        </p:txBody>
      </p:sp>
      <p:sp>
        <p:nvSpPr>
          <p:cNvPr id="2" name="">
            <a:extLst xmlns:a="http://schemas.openxmlformats.org/drawingml/2006/main">
              <a:ext uri="{FF2B5EF4-FFF2-40B4-BE49-F238E27FC236}">
                <a16:creationId xmlns:a16="http://schemas.microsoft.com/office/drawing/2014/main" id="{C854DB3E-3CE7-4F27-9DE2-A398233FD506}"/>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INTERPRETATION   /   Public communication codes, not performance measurements</a:t>
            </a:r>
          </a:p>
        </p:txBody>
      </p:sp>
      <p:sp>
        <p:nvSpPr>
          <p:cNvPr id="3" name="">
            <a:extLst xmlns:a="http://schemas.openxmlformats.org/drawingml/2006/main">
              <a:ext uri="{FF2B5EF4-FFF2-40B4-BE49-F238E27FC236}">
                <a16:creationId xmlns:a16="http://schemas.microsoft.com/office/drawing/2014/main" id="{30D7B169-8D08-4FAA-8A0A-37E9B07A3FA9}"/>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7</a:t>
            </a:r>
          </a:p>
        </p:txBody>
      </p:sp>
      <p:sp>
        <p:nvSpPr>
          <p:cNvPr id="4" name="">
            <a:extLst xmlns:a="http://schemas.openxmlformats.org/drawingml/2006/main">
              <a:ext uri="{FF2B5EF4-FFF2-40B4-BE49-F238E27FC236}">
                <a16:creationId xmlns:a16="http://schemas.microsoft.com/office/drawing/2014/main" id="{DBB1EFCE-92DF-438B-AB83-3BB6CD39E6B8}"/>
              </a:ext>
            </a:extLst>
          </p:cNvPr>
          <p:cNvSpPr>
            <a:spLocks xmlns:a="http://schemas.openxmlformats.org/drawingml/2006/main" noGrp="1"/>
          </p:cNvSpPr>
          <p:nvPr/>
        </p:nvSpPr>
        <p:spPr>
          <a:xfrm xmlns:a="http://schemas.openxmlformats.org/drawingml/2006/main">
            <a:off x="102870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6AD98B-EF79-41CF-A5D6-895EA842406D}"/>
              </a:ext>
            </a:extLst>
          </p:cNvPr>
          <p:cNvSpPr>
            <a:spLocks xmlns:a="http://schemas.openxmlformats.org/drawingml/2006/main" noGrp="1"/>
          </p:cNvSpPr>
          <p:nvPr/>
        </p:nvSpPr>
        <p:spPr>
          <a:xfrm xmlns:a="http://schemas.openxmlformats.org/drawingml/2006/main">
            <a:off x="1028700" y="1952625"/>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BDA37F4-4E95-45FE-B09F-0EFD95A92485}"/>
              </a:ext>
            </a:extLst>
          </p:cNvPr>
          <p:cNvSpPr>
            <a:spLocks xmlns:a="http://schemas.openxmlformats.org/drawingml/2006/main" noGrp="1"/>
          </p:cNvSpPr>
          <p:nvPr/>
        </p:nvSpPr>
        <p:spPr>
          <a:xfrm xmlns:a="http://schemas.openxmlformats.org/drawingml/2006/main">
            <a:off x="93345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7" name="">
            <a:extLst xmlns:a="http://schemas.openxmlformats.org/drawingml/2006/main">
              <a:ext uri="{FF2B5EF4-FFF2-40B4-BE49-F238E27FC236}">
                <a16:creationId xmlns:a16="http://schemas.microsoft.com/office/drawing/2014/main" id="{042DC6C0-0D77-4273-9C82-53AB7AE2C18C}"/>
              </a:ext>
            </a:extLst>
          </p:cNvPr>
          <p:cNvSpPr>
            <a:spLocks xmlns:a="http://schemas.openxmlformats.org/drawingml/2006/main" noGrp="1"/>
          </p:cNvSpPr>
          <p:nvPr/>
        </p:nvSpPr>
        <p:spPr>
          <a:xfrm xmlns:a="http://schemas.openxmlformats.org/drawingml/2006/main">
            <a:off x="666750" y="1828800"/>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8" name="">
            <a:extLst xmlns:a="http://schemas.openxmlformats.org/drawingml/2006/main">
              <a:ext uri="{FF2B5EF4-FFF2-40B4-BE49-F238E27FC236}">
                <a16:creationId xmlns:a16="http://schemas.microsoft.com/office/drawing/2014/main" id="{5673B36F-FE26-4920-91DB-C44604984B82}"/>
              </a:ext>
            </a:extLst>
          </p:cNvPr>
          <p:cNvSpPr>
            <a:spLocks xmlns:a="http://schemas.openxmlformats.org/drawingml/2006/main" noGrp="1"/>
          </p:cNvSpPr>
          <p:nvPr/>
        </p:nvSpPr>
        <p:spPr>
          <a:xfrm xmlns:a="http://schemas.openxmlformats.org/drawingml/2006/main">
            <a:off x="2528888"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03E0B52-EFC7-4CE8-A471-0C4244E7E71F}"/>
              </a:ext>
            </a:extLst>
          </p:cNvPr>
          <p:cNvSpPr>
            <a:spLocks xmlns:a="http://schemas.openxmlformats.org/drawingml/2006/main" noGrp="1"/>
          </p:cNvSpPr>
          <p:nvPr/>
        </p:nvSpPr>
        <p:spPr>
          <a:xfrm xmlns:a="http://schemas.openxmlformats.org/drawingml/2006/main">
            <a:off x="1028700" y="2797969"/>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3258A5F-FBFB-4DC0-BB89-6D5BB618FF17}"/>
              </a:ext>
            </a:extLst>
          </p:cNvPr>
          <p:cNvSpPr>
            <a:spLocks xmlns:a="http://schemas.openxmlformats.org/drawingml/2006/main" noGrp="1"/>
          </p:cNvSpPr>
          <p:nvPr/>
        </p:nvSpPr>
        <p:spPr>
          <a:xfrm xmlns:a="http://schemas.openxmlformats.org/drawingml/2006/main">
            <a:off x="2433638"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EAECD219-C985-4401-BEE9-C94BF9C4861C}"/>
              </a:ext>
            </a:extLst>
          </p:cNvPr>
          <p:cNvSpPr>
            <a:spLocks xmlns:a="http://schemas.openxmlformats.org/drawingml/2006/main" noGrp="1"/>
          </p:cNvSpPr>
          <p:nvPr/>
        </p:nvSpPr>
        <p:spPr>
          <a:xfrm xmlns:a="http://schemas.openxmlformats.org/drawingml/2006/main">
            <a:off x="666750" y="2674144"/>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2" name="">
            <a:extLst xmlns:a="http://schemas.openxmlformats.org/drawingml/2006/main">
              <a:ext uri="{FF2B5EF4-FFF2-40B4-BE49-F238E27FC236}">
                <a16:creationId xmlns:a16="http://schemas.microsoft.com/office/drawing/2014/main" id="{3165D49B-7777-4E83-BFF3-D15149816199}"/>
              </a:ext>
            </a:extLst>
          </p:cNvPr>
          <p:cNvSpPr>
            <a:spLocks xmlns:a="http://schemas.openxmlformats.org/drawingml/2006/main" noGrp="1"/>
          </p:cNvSpPr>
          <p:nvPr/>
        </p:nvSpPr>
        <p:spPr>
          <a:xfrm xmlns:a="http://schemas.openxmlformats.org/drawingml/2006/main">
            <a:off x="4029075"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F82A366-5AA9-4AA4-9F1A-F0C72F148ECB}"/>
              </a:ext>
            </a:extLst>
          </p:cNvPr>
          <p:cNvSpPr>
            <a:spLocks xmlns:a="http://schemas.openxmlformats.org/drawingml/2006/main" noGrp="1"/>
          </p:cNvSpPr>
          <p:nvPr/>
        </p:nvSpPr>
        <p:spPr>
          <a:xfrm xmlns:a="http://schemas.openxmlformats.org/drawingml/2006/main">
            <a:off x="1028700" y="3643313"/>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7ED0F41C-B862-4BF8-BDAB-4F34F4C720E3}"/>
              </a:ext>
            </a:extLst>
          </p:cNvPr>
          <p:cNvSpPr>
            <a:spLocks xmlns:a="http://schemas.openxmlformats.org/drawingml/2006/main" noGrp="1"/>
          </p:cNvSpPr>
          <p:nvPr/>
        </p:nvSpPr>
        <p:spPr>
          <a:xfrm xmlns:a="http://schemas.openxmlformats.org/drawingml/2006/main">
            <a:off x="3933825"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2B002888-54A0-4B14-BA4F-309D3FD93DB9}"/>
              </a:ext>
            </a:extLst>
          </p:cNvPr>
          <p:cNvSpPr>
            <a:spLocks xmlns:a="http://schemas.openxmlformats.org/drawingml/2006/main" noGrp="1"/>
          </p:cNvSpPr>
          <p:nvPr/>
        </p:nvSpPr>
        <p:spPr>
          <a:xfrm xmlns:a="http://schemas.openxmlformats.org/drawingml/2006/main">
            <a:off x="666750" y="3519488"/>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3</a:t>
            </a:r>
          </a:p>
        </p:txBody>
      </p:sp>
      <p:sp>
        <p:nvSpPr>
          <p:cNvPr id="16" name="">
            <a:extLst xmlns:a="http://schemas.openxmlformats.org/drawingml/2006/main">
              <a:ext uri="{FF2B5EF4-FFF2-40B4-BE49-F238E27FC236}">
                <a16:creationId xmlns:a16="http://schemas.microsoft.com/office/drawing/2014/main" id="{D561A9EC-B701-4422-824C-FD76E75CF6EA}"/>
              </a:ext>
            </a:extLst>
          </p:cNvPr>
          <p:cNvSpPr>
            <a:spLocks xmlns:a="http://schemas.openxmlformats.org/drawingml/2006/main" noGrp="1"/>
          </p:cNvSpPr>
          <p:nvPr/>
        </p:nvSpPr>
        <p:spPr>
          <a:xfrm xmlns:a="http://schemas.openxmlformats.org/drawingml/2006/main">
            <a:off x="5529263"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BB5C670-9187-4EB5-8AA8-E70E3DB6D9FB}"/>
              </a:ext>
            </a:extLst>
          </p:cNvPr>
          <p:cNvSpPr>
            <a:spLocks xmlns:a="http://schemas.openxmlformats.org/drawingml/2006/main" noGrp="1"/>
          </p:cNvSpPr>
          <p:nvPr/>
        </p:nvSpPr>
        <p:spPr>
          <a:xfrm xmlns:a="http://schemas.openxmlformats.org/drawingml/2006/main">
            <a:off x="1028700" y="4488656"/>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B95F5F4-DD97-436E-B06F-1FAFF19CA302}"/>
              </a:ext>
            </a:extLst>
          </p:cNvPr>
          <p:cNvSpPr>
            <a:spLocks xmlns:a="http://schemas.openxmlformats.org/drawingml/2006/main" noGrp="1"/>
          </p:cNvSpPr>
          <p:nvPr/>
        </p:nvSpPr>
        <p:spPr>
          <a:xfrm xmlns:a="http://schemas.openxmlformats.org/drawingml/2006/main">
            <a:off x="5434013"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4</a:t>
            </a:r>
          </a:p>
        </p:txBody>
      </p:sp>
      <p:sp>
        <p:nvSpPr>
          <p:cNvPr id="19" name="">
            <a:extLst xmlns:a="http://schemas.openxmlformats.org/drawingml/2006/main">
              <a:ext uri="{FF2B5EF4-FFF2-40B4-BE49-F238E27FC236}">
                <a16:creationId xmlns:a16="http://schemas.microsoft.com/office/drawing/2014/main" id="{8BBB5AD7-6C5B-4CAC-A2AD-934B61B5AFF6}"/>
              </a:ext>
            </a:extLst>
          </p:cNvPr>
          <p:cNvSpPr>
            <a:spLocks xmlns:a="http://schemas.openxmlformats.org/drawingml/2006/main" noGrp="1"/>
          </p:cNvSpPr>
          <p:nvPr/>
        </p:nvSpPr>
        <p:spPr>
          <a:xfrm xmlns:a="http://schemas.openxmlformats.org/drawingml/2006/main">
            <a:off x="666750" y="4364831"/>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3D5ACB08-3276-4F20-9AB1-874E2245E989}"/>
              </a:ext>
            </a:extLst>
          </p:cNvPr>
          <p:cNvSpPr>
            <a:spLocks xmlns:a="http://schemas.openxmlformats.org/drawingml/2006/main" noGrp="1"/>
          </p:cNvSpPr>
          <p:nvPr/>
        </p:nvSpPr>
        <p:spPr>
          <a:xfrm xmlns:a="http://schemas.openxmlformats.org/drawingml/2006/main">
            <a:off x="7029450" y="1952625"/>
            <a:ext cx="9525" cy="338137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79548DA3-C91A-42BD-BA1D-404110597640}"/>
              </a:ext>
            </a:extLst>
          </p:cNvPr>
          <p:cNvSpPr>
            <a:spLocks xmlns:a="http://schemas.openxmlformats.org/drawingml/2006/main" noGrp="1"/>
          </p:cNvSpPr>
          <p:nvPr/>
        </p:nvSpPr>
        <p:spPr>
          <a:xfrm xmlns:a="http://schemas.openxmlformats.org/drawingml/2006/main">
            <a:off x="1028700" y="5334000"/>
            <a:ext cx="6000750" cy="9525"/>
          </a:xfrm>
          <a:prstGeom xmlns:a="http://schemas.openxmlformats.org/drawingml/2006/main" prst="rect">
            <a:avLst/>
          </a:prstGeom>
          <a:solidFill xmlns:a="http://schemas.openxmlformats.org/drawingml/2006/main">
            <a:srgbClr val="D9E2E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724C239-0F1E-46B5-9A09-86C43C36AF72}"/>
              </a:ext>
            </a:extLst>
          </p:cNvPr>
          <p:cNvSpPr>
            <a:spLocks xmlns:a="http://schemas.openxmlformats.org/drawingml/2006/main" noGrp="1"/>
          </p:cNvSpPr>
          <p:nvPr/>
        </p:nvSpPr>
        <p:spPr>
          <a:xfrm xmlns:a="http://schemas.openxmlformats.org/drawingml/2006/main">
            <a:off x="6934200" y="5410200"/>
            <a:ext cx="28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5</a:t>
            </a:r>
          </a:p>
        </p:txBody>
      </p:sp>
      <p:sp>
        <p:nvSpPr>
          <p:cNvPr id="23" name="">
            <a:extLst xmlns:a="http://schemas.openxmlformats.org/drawingml/2006/main">
              <a:ext uri="{FF2B5EF4-FFF2-40B4-BE49-F238E27FC236}">
                <a16:creationId xmlns:a16="http://schemas.microsoft.com/office/drawing/2014/main" id="{06E1A0B6-F030-4BF0-A547-06EF871E4DA1}"/>
              </a:ext>
            </a:extLst>
          </p:cNvPr>
          <p:cNvSpPr>
            <a:spLocks xmlns:a="http://schemas.openxmlformats.org/drawingml/2006/main" noGrp="1"/>
          </p:cNvSpPr>
          <p:nvPr/>
        </p:nvSpPr>
        <p:spPr>
          <a:xfrm xmlns:a="http://schemas.openxmlformats.org/drawingml/2006/main">
            <a:off x="666750" y="5210175"/>
            <a:ext cx="247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1</a:t>
            </a:r>
          </a:p>
        </p:txBody>
      </p:sp>
      <p:sp>
        <p:nvSpPr>
          <p:cNvPr id="24" name="">
            <a:extLst xmlns:a="http://schemas.openxmlformats.org/drawingml/2006/main">
              <a:ext uri="{FF2B5EF4-FFF2-40B4-BE49-F238E27FC236}">
                <a16:creationId xmlns:a16="http://schemas.microsoft.com/office/drawing/2014/main" id="{CB6FB8B3-26FA-440F-87DF-B71A23C2F9A0}"/>
              </a:ext>
            </a:extLst>
          </p:cNvPr>
          <p:cNvSpPr>
            <a:spLocks xmlns:a="http://schemas.openxmlformats.org/drawingml/2006/main" noGrp="1"/>
          </p:cNvSpPr>
          <p:nvPr/>
        </p:nvSpPr>
        <p:spPr>
          <a:xfrm xmlns:a="http://schemas.openxmlformats.org/drawingml/2006/main">
            <a:off x="857250" y="1571625"/>
            <a:ext cx="638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Transparency of the human role</a:t>
            </a:r>
          </a:p>
        </p:txBody>
      </p:sp>
      <p:sp>
        <p:nvSpPr>
          <p:cNvPr id="25" name="">
            <a:extLst xmlns:a="http://schemas.openxmlformats.org/drawingml/2006/main">
              <a:ext uri="{FF2B5EF4-FFF2-40B4-BE49-F238E27FC236}">
                <a16:creationId xmlns:a16="http://schemas.microsoft.com/office/drawing/2014/main" id="{63971A95-67E2-4655-AEAE-C09A354495B3}"/>
              </a:ext>
            </a:extLst>
          </p:cNvPr>
          <p:cNvSpPr>
            <a:spLocks xmlns:a="http://schemas.openxmlformats.org/drawingml/2006/main" noGrp="1"/>
          </p:cNvSpPr>
          <p:nvPr/>
        </p:nvSpPr>
        <p:spPr>
          <a:xfrm xmlns:a="http://schemas.openxmlformats.org/drawingml/2006/main">
            <a:off x="1428750" y="57340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849"/>
                </a:solidFill>
                <a:latin typeface="Arial"/>
                <a:ea typeface="Arial"/>
                <a:cs typeface="Arial"/>
              </a:defRPr>
            </a:pPr>
            <a:r>
              <a:rPr sz="1575" b="1">
                <a:solidFill>
                  <a:srgbClr val="183849"/>
                </a:solidFill>
                <a:latin typeface="Arial"/>
                <a:ea typeface="Arial"/>
                <a:cs typeface="Arial"/>
              </a:rPr>
              <a:t>Emphasis on autonomous operation</a:t>
            </a:r>
          </a:p>
        </p:txBody>
      </p:sp>
      <p:sp>
        <p:nvSpPr>
          <p:cNvPr id="26" name="">
            <a:extLst xmlns:a="http://schemas.openxmlformats.org/drawingml/2006/main">
              <a:ext uri="{FF2B5EF4-FFF2-40B4-BE49-F238E27FC236}">
                <a16:creationId xmlns:a16="http://schemas.microsoft.com/office/drawing/2014/main" id="{AE6EAF5A-3DC6-426E-9782-2E4ACD58BD0B}"/>
              </a:ext>
            </a:extLst>
          </p:cNvPr>
          <p:cNvSpPr>
            <a:spLocks xmlns:a="http://schemas.openxmlformats.org/drawingml/2006/main" noGrp="1"/>
          </p:cNvSpPr>
          <p:nvPr/>
        </p:nvSpPr>
        <p:spPr>
          <a:xfrm xmlns:a="http://schemas.openxmlformats.org/drawingml/2006/main">
            <a:off x="6858000" y="4317206"/>
            <a:ext cx="342900" cy="342900"/>
          </a:xfrm>
          <a:prstGeom xmlns:a="http://schemas.openxmlformats.org/drawingml/2006/main" prst="ellipse">
            <a:avLst/>
          </a:prstGeom>
          <a:solidFill xmlns:a="http://schemas.openxmlformats.org/drawingml/2006/main">
            <a:srgbClr val="137D87"/>
          </a:solidFill>
          <a:ln xmlns:a="http://schemas.openxmlformats.org/drawingml/2006/main" w="19050">
            <a:solidFill>
              <a:srgbClr val="FFFFFF"/>
            </a:solidFill>
          </a:ln>
        </p:spPr>
      </p:sp>
      <p:sp>
        <p:nvSpPr>
          <p:cNvPr id="27" name="">
            <a:extLst xmlns:a="http://schemas.openxmlformats.org/drawingml/2006/main">
              <a:ext uri="{FF2B5EF4-FFF2-40B4-BE49-F238E27FC236}">
                <a16:creationId xmlns:a16="http://schemas.microsoft.com/office/drawing/2014/main" id="{B2E1BAAD-9F70-4D03-8025-4BF8A63ACB8A}"/>
              </a:ext>
            </a:extLst>
          </p:cNvPr>
          <p:cNvSpPr>
            <a:spLocks xmlns:a="http://schemas.openxmlformats.org/drawingml/2006/main" noGrp="1"/>
          </p:cNvSpPr>
          <p:nvPr/>
        </p:nvSpPr>
        <p:spPr>
          <a:xfrm xmlns:a="http://schemas.openxmlformats.org/drawingml/2006/main">
            <a:off x="6934200" y="4355306"/>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1</a:t>
            </a:r>
          </a:p>
        </p:txBody>
      </p:sp>
      <p:sp>
        <p:nvSpPr>
          <p:cNvPr id="28" name="">
            <a:extLst xmlns:a="http://schemas.openxmlformats.org/drawingml/2006/main">
              <a:ext uri="{FF2B5EF4-FFF2-40B4-BE49-F238E27FC236}">
                <a16:creationId xmlns:a16="http://schemas.microsoft.com/office/drawing/2014/main" id="{3BBD5A0B-AB85-4FE4-B1A1-974CDEC767CF}"/>
              </a:ext>
            </a:extLst>
          </p:cNvPr>
          <p:cNvSpPr>
            <a:spLocks xmlns:a="http://schemas.openxmlformats.org/drawingml/2006/main" noGrp="1"/>
          </p:cNvSpPr>
          <p:nvPr/>
        </p:nvSpPr>
        <p:spPr>
          <a:xfrm xmlns:a="http://schemas.openxmlformats.org/drawingml/2006/main">
            <a:off x="7762875" y="17811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37D87"/>
                </a:solidFill>
                <a:latin typeface="Arial"/>
                <a:ea typeface="Arial"/>
                <a:cs typeface="Arial"/>
              </a:defRPr>
            </a:pPr>
            <a:r>
              <a:rPr sz="1725" b="1">
                <a:solidFill>
                  <a:srgbClr val="137D87"/>
                </a:solidFill>
                <a:latin typeface="Arial"/>
                <a:ea typeface="Arial"/>
                <a:cs typeface="Arial"/>
              </a:rPr>
              <a:t>1  Aido Rover</a:t>
            </a:r>
          </a:p>
        </p:txBody>
      </p:sp>
      <p:sp>
        <p:nvSpPr>
          <p:cNvPr id="29" name="">
            <a:extLst xmlns:a="http://schemas.openxmlformats.org/drawingml/2006/main">
              <a:ext uri="{FF2B5EF4-FFF2-40B4-BE49-F238E27FC236}">
                <a16:creationId xmlns:a16="http://schemas.microsoft.com/office/drawing/2014/main" id="{B97AE520-B881-43F2-B3D8-7425ABDFC0AE}"/>
              </a:ext>
            </a:extLst>
          </p:cNvPr>
          <p:cNvSpPr>
            <a:spLocks xmlns:a="http://schemas.openxmlformats.org/drawingml/2006/main" noGrp="1"/>
          </p:cNvSpPr>
          <p:nvPr/>
        </p:nvSpPr>
        <p:spPr>
          <a:xfrm xmlns:a="http://schemas.openxmlformats.org/drawingml/2006/main">
            <a:off x="6858000" y="2626519"/>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0" name="">
            <a:extLst xmlns:a="http://schemas.openxmlformats.org/drawingml/2006/main">
              <a:ext uri="{FF2B5EF4-FFF2-40B4-BE49-F238E27FC236}">
                <a16:creationId xmlns:a16="http://schemas.microsoft.com/office/drawing/2014/main" id="{42DEFB90-E16B-40E8-9168-60179C529569}"/>
              </a:ext>
            </a:extLst>
          </p:cNvPr>
          <p:cNvSpPr>
            <a:spLocks xmlns:a="http://schemas.openxmlformats.org/drawingml/2006/main" noGrp="1"/>
          </p:cNvSpPr>
          <p:nvPr/>
        </p:nvSpPr>
        <p:spPr>
          <a:xfrm xmlns:a="http://schemas.openxmlformats.org/drawingml/2006/main">
            <a:off x="6934200" y="2664619"/>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2</a:t>
            </a:r>
          </a:p>
        </p:txBody>
      </p:sp>
      <p:sp>
        <p:nvSpPr>
          <p:cNvPr id="31" name="">
            <a:extLst xmlns:a="http://schemas.openxmlformats.org/drawingml/2006/main">
              <a:ext uri="{FF2B5EF4-FFF2-40B4-BE49-F238E27FC236}">
                <a16:creationId xmlns:a16="http://schemas.microsoft.com/office/drawing/2014/main" id="{9425712A-BF69-42C4-A427-E73EF002AC81}"/>
              </a:ext>
            </a:extLst>
          </p:cNvPr>
          <p:cNvSpPr>
            <a:spLocks xmlns:a="http://schemas.openxmlformats.org/drawingml/2006/main" noGrp="1"/>
          </p:cNvSpPr>
          <p:nvPr/>
        </p:nvSpPr>
        <p:spPr>
          <a:xfrm xmlns:a="http://schemas.openxmlformats.org/drawingml/2006/main">
            <a:off x="7762875" y="21717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2  Knightscope</a:t>
            </a:r>
          </a:p>
        </p:txBody>
      </p:sp>
      <p:sp>
        <p:nvSpPr>
          <p:cNvPr id="32" name="">
            <a:extLst xmlns:a="http://schemas.openxmlformats.org/drawingml/2006/main">
              <a:ext uri="{FF2B5EF4-FFF2-40B4-BE49-F238E27FC236}">
                <a16:creationId xmlns:a16="http://schemas.microsoft.com/office/drawing/2014/main" id="{3C90382A-2AC3-4570-9B90-870ED16D7F76}"/>
              </a:ext>
            </a:extLst>
          </p:cNvPr>
          <p:cNvSpPr>
            <a:spLocks xmlns:a="http://schemas.openxmlformats.org/drawingml/2006/main" noGrp="1"/>
          </p:cNvSpPr>
          <p:nvPr/>
        </p:nvSpPr>
        <p:spPr>
          <a:xfrm xmlns:a="http://schemas.openxmlformats.org/drawingml/2006/main">
            <a:off x="5357813" y="1781175"/>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3" name="">
            <a:extLst xmlns:a="http://schemas.openxmlformats.org/drawingml/2006/main">
              <a:ext uri="{FF2B5EF4-FFF2-40B4-BE49-F238E27FC236}">
                <a16:creationId xmlns:a16="http://schemas.microsoft.com/office/drawing/2014/main" id="{99020D8B-C3AA-45FF-B9E1-858E62869CC4}"/>
              </a:ext>
            </a:extLst>
          </p:cNvPr>
          <p:cNvSpPr>
            <a:spLocks xmlns:a="http://schemas.openxmlformats.org/drawingml/2006/main" noGrp="1"/>
          </p:cNvSpPr>
          <p:nvPr/>
        </p:nvSpPr>
        <p:spPr>
          <a:xfrm xmlns:a="http://schemas.openxmlformats.org/drawingml/2006/main">
            <a:off x="5434013" y="181927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3</a:t>
            </a:r>
          </a:p>
        </p:txBody>
      </p:sp>
      <p:sp>
        <p:nvSpPr>
          <p:cNvPr id="34" name="">
            <a:extLst xmlns:a="http://schemas.openxmlformats.org/drawingml/2006/main">
              <a:ext uri="{FF2B5EF4-FFF2-40B4-BE49-F238E27FC236}">
                <a16:creationId xmlns:a16="http://schemas.microsoft.com/office/drawing/2014/main" id="{7DDC1DC7-CFE8-4F0A-AA39-569188CD5332}"/>
              </a:ext>
            </a:extLst>
          </p:cNvPr>
          <p:cNvSpPr>
            <a:spLocks xmlns:a="http://schemas.openxmlformats.org/drawingml/2006/main" noGrp="1"/>
          </p:cNvSpPr>
          <p:nvPr/>
        </p:nvSpPr>
        <p:spPr>
          <a:xfrm xmlns:a="http://schemas.openxmlformats.org/drawingml/2006/main">
            <a:off x="7762875" y="256222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3  Asylon</a:t>
            </a:r>
          </a:p>
        </p:txBody>
      </p:sp>
      <p:sp>
        <p:nvSpPr>
          <p:cNvPr id="35" name="">
            <a:extLst xmlns:a="http://schemas.openxmlformats.org/drawingml/2006/main">
              <a:ext uri="{FF2B5EF4-FFF2-40B4-BE49-F238E27FC236}">
                <a16:creationId xmlns:a16="http://schemas.microsoft.com/office/drawing/2014/main" id="{AE0613A9-814A-42A0-AC3F-4C350AD1B55A}"/>
              </a:ext>
            </a:extLst>
          </p:cNvPr>
          <p:cNvSpPr>
            <a:spLocks xmlns:a="http://schemas.openxmlformats.org/drawingml/2006/main" noGrp="1"/>
          </p:cNvSpPr>
          <p:nvPr/>
        </p:nvSpPr>
        <p:spPr>
          <a:xfrm xmlns:a="http://schemas.openxmlformats.org/drawingml/2006/main">
            <a:off x="3857625" y="1781175"/>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6" name="">
            <a:extLst xmlns:a="http://schemas.openxmlformats.org/drawingml/2006/main">
              <a:ext uri="{FF2B5EF4-FFF2-40B4-BE49-F238E27FC236}">
                <a16:creationId xmlns:a16="http://schemas.microsoft.com/office/drawing/2014/main" id="{0B729DC8-3471-4E46-9EA5-6702A5FD0220}"/>
              </a:ext>
            </a:extLst>
          </p:cNvPr>
          <p:cNvSpPr>
            <a:spLocks xmlns:a="http://schemas.openxmlformats.org/drawingml/2006/main" noGrp="1"/>
          </p:cNvSpPr>
          <p:nvPr/>
        </p:nvSpPr>
        <p:spPr>
          <a:xfrm xmlns:a="http://schemas.openxmlformats.org/drawingml/2006/main">
            <a:off x="3933825" y="1819275"/>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4</a:t>
            </a:r>
          </a:p>
        </p:txBody>
      </p:sp>
      <p:sp>
        <p:nvSpPr>
          <p:cNvPr id="37" name="">
            <a:extLst xmlns:a="http://schemas.openxmlformats.org/drawingml/2006/main">
              <a:ext uri="{FF2B5EF4-FFF2-40B4-BE49-F238E27FC236}">
                <a16:creationId xmlns:a16="http://schemas.microsoft.com/office/drawing/2014/main" id="{869D5021-8953-484B-96B1-5E5A837845B9}"/>
              </a:ext>
            </a:extLst>
          </p:cNvPr>
          <p:cNvSpPr>
            <a:spLocks xmlns:a="http://schemas.openxmlformats.org/drawingml/2006/main" noGrp="1"/>
          </p:cNvSpPr>
          <p:nvPr/>
        </p:nvSpPr>
        <p:spPr>
          <a:xfrm xmlns:a="http://schemas.openxmlformats.org/drawingml/2006/main">
            <a:off x="7762875" y="295275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4  Cobalt AI</a:t>
            </a:r>
          </a:p>
        </p:txBody>
      </p:sp>
      <p:sp>
        <p:nvSpPr>
          <p:cNvPr id="38" name="">
            <a:extLst xmlns:a="http://schemas.openxmlformats.org/drawingml/2006/main">
              <a:ext uri="{FF2B5EF4-FFF2-40B4-BE49-F238E27FC236}">
                <a16:creationId xmlns:a16="http://schemas.microsoft.com/office/drawing/2014/main" id="{0EB5336F-7DF3-4456-A863-1C6DC81D9BBC}"/>
              </a:ext>
            </a:extLst>
          </p:cNvPr>
          <p:cNvSpPr>
            <a:spLocks xmlns:a="http://schemas.openxmlformats.org/drawingml/2006/main" noGrp="1"/>
          </p:cNvSpPr>
          <p:nvPr/>
        </p:nvSpPr>
        <p:spPr>
          <a:xfrm xmlns:a="http://schemas.openxmlformats.org/drawingml/2006/main">
            <a:off x="6858000" y="5162550"/>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39" name="">
            <a:extLst xmlns:a="http://schemas.openxmlformats.org/drawingml/2006/main">
              <a:ext uri="{FF2B5EF4-FFF2-40B4-BE49-F238E27FC236}">
                <a16:creationId xmlns:a16="http://schemas.microsoft.com/office/drawing/2014/main" id="{EBF1013A-C066-42FB-8729-8EBCCEE163D2}"/>
              </a:ext>
            </a:extLst>
          </p:cNvPr>
          <p:cNvSpPr>
            <a:spLocks xmlns:a="http://schemas.openxmlformats.org/drawingml/2006/main" noGrp="1"/>
          </p:cNvSpPr>
          <p:nvPr/>
        </p:nvSpPr>
        <p:spPr>
          <a:xfrm xmlns:a="http://schemas.openxmlformats.org/drawingml/2006/main">
            <a:off x="6934200" y="5200650"/>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5</a:t>
            </a:r>
          </a:p>
        </p:txBody>
      </p:sp>
      <p:sp>
        <p:nvSpPr>
          <p:cNvPr id="40" name="">
            <a:extLst xmlns:a="http://schemas.openxmlformats.org/drawingml/2006/main">
              <a:ext uri="{FF2B5EF4-FFF2-40B4-BE49-F238E27FC236}">
                <a16:creationId xmlns:a16="http://schemas.microsoft.com/office/drawing/2014/main" id="{3B04F38A-A138-4956-8F81-FE2CB823FFE9}"/>
              </a:ext>
            </a:extLst>
          </p:cNvPr>
          <p:cNvSpPr>
            <a:spLocks xmlns:a="http://schemas.openxmlformats.org/drawingml/2006/main" noGrp="1"/>
          </p:cNvSpPr>
          <p:nvPr/>
        </p:nvSpPr>
        <p:spPr>
          <a:xfrm xmlns:a="http://schemas.openxmlformats.org/drawingml/2006/main">
            <a:off x="7762875" y="3343275"/>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5  RAD ROAMEO</a:t>
            </a:r>
          </a:p>
        </p:txBody>
      </p:sp>
      <p:sp>
        <p:nvSpPr>
          <p:cNvPr id="41" name="">
            <a:extLst xmlns:a="http://schemas.openxmlformats.org/drawingml/2006/main">
              <a:ext uri="{FF2B5EF4-FFF2-40B4-BE49-F238E27FC236}">
                <a16:creationId xmlns:a16="http://schemas.microsoft.com/office/drawing/2014/main" id="{3ECF1839-96E6-43E0-8CDE-A30435A5AE6D}"/>
              </a:ext>
            </a:extLst>
          </p:cNvPr>
          <p:cNvSpPr>
            <a:spLocks xmlns:a="http://schemas.openxmlformats.org/drawingml/2006/main" noGrp="1"/>
          </p:cNvSpPr>
          <p:nvPr/>
        </p:nvSpPr>
        <p:spPr>
          <a:xfrm xmlns:a="http://schemas.openxmlformats.org/drawingml/2006/main">
            <a:off x="5357813" y="3471863"/>
            <a:ext cx="342900" cy="342900"/>
          </a:xfrm>
          <a:prstGeom xmlns:a="http://schemas.openxmlformats.org/drawingml/2006/main" prst="ellipse">
            <a:avLst/>
          </a:prstGeom>
          <a:solidFill xmlns:a="http://schemas.openxmlformats.org/drawingml/2006/main">
            <a:srgbClr val="183849"/>
          </a:solidFill>
          <a:ln xmlns:a="http://schemas.openxmlformats.org/drawingml/2006/main" w="19050">
            <a:solidFill>
              <a:srgbClr val="FFFFFF"/>
            </a:solidFill>
          </a:ln>
        </p:spPr>
      </p:sp>
      <p:sp>
        <p:nvSpPr>
          <p:cNvPr id="42" name="">
            <a:extLst xmlns:a="http://schemas.openxmlformats.org/drawingml/2006/main">
              <a:ext uri="{FF2B5EF4-FFF2-40B4-BE49-F238E27FC236}">
                <a16:creationId xmlns:a16="http://schemas.microsoft.com/office/drawing/2014/main" id="{14BCA1EF-5D28-4007-896C-A89F61C09D98}"/>
              </a:ext>
            </a:extLst>
          </p:cNvPr>
          <p:cNvSpPr>
            <a:spLocks xmlns:a="http://schemas.openxmlformats.org/drawingml/2006/main" noGrp="1"/>
          </p:cNvSpPr>
          <p:nvPr/>
        </p:nvSpPr>
        <p:spPr>
          <a:xfrm xmlns:a="http://schemas.openxmlformats.org/drawingml/2006/main">
            <a:off x="5434013" y="3509963"/>
            <a:ext cx="285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6</a:t>
            </a:r>
          </a:p>
        </p:txBody>
      </p:sp>
      <p:sp>
        <p:nvSpPr>
          <p:cNvPr id="43" name="">
            <a:extLst xmlns:a="http://schemas.openxmlformats.org/drawingml/2006/main">
              <a:ext uri="{FF2B5EF4-FFF2-40B4-BE49-F238E27FC236}">
                <a16:creationId xmlns:a16="http://schemas.microsoft.com/office/drawing/2014/main" id="{5ABB8EF5-1D2B-464F-9077-C3CB7DFF8A4D}"/>
              </a:ext>
            </a:extLst>
          </p:cNvPr>
          <p:cNvSpPr>
            <a:spLocks xmlns:a="http://schemas.openxmlformats.org/drawingml/2006/main" noGrp="1"/>
          </p:cNvSpPr>
          <p:nvPr/>
        </p:nvSpPr>
        <p:spPr>
          <a:xfrm xmlns:a="http://schemas.openxmlformats.org/drawingml/2006/main">
            <a:off x="7762875" y="37338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6  Boston Dynamics Spot</a:t>
            </a:r>
          </a:p>
        </p:txBody>
      </p:sp>
      <p:sp>
        <p:nvSpPr>
          <p:cNvPr id="44" name="">
            <a:extLst xmlns:a="http://schemas.openxmlformats.org/drawingml/2006/main">
              <a:ext uri="{FF2B5EF4-FFF2-40B4-BE49-F238E27FC236}">
                <a16:creationId xmlns:a16="http://schemas.microsoft.com/office/drawing/2014/main" id="{C3E20AF9-7B77-41AA-9A02-6086DC5FEBD1}"/>
              </a:ext>
            </a:extLst>
          </p:cNvPr>
          <p:cNvSpPr>
            <a:spLocks xmlns:a="http://schemas.openxmlformats.org/drawingml/2006/main" noGrp="1"/>
          </p:cNvSpPr>
          <p:nvPr/>
        </p:nvSpPr>
        <p:spPr>
          <a:xfrm xmlns:a="http://schemas.openxmlformats.org/drawingml/2006/main">
            <a:off x="7762875" y="4276725"/>
            <a:ext cx="3619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9751E"/>
                </a:solidFill>
                <a:latin typeface="Arial"/>
                <a:ea typeface="Arial"/>
                <a:cs typeface="Arial"/>
              </a:defRPr>
            </a:pPr>
            <a:r>
              <a:rPr sz="1500" b="1">
                <a:solidFill>
                  <a:srgbClr val="B9751E"/>
                </a:solidFill>
                <a:latin typeface="Arial"/>
                <a:ea typeface="Arial"/>
                <a:cs typeface="Arial"/>
              </a:rPr>
              <a:t>HYPOTHESIS</a:t>
            </a:r>
          </a:p>
        </p:txBody>
      </p:sp>
      <p:sp>
        <p:nvSpPr>
          <p:cNvPr id="45" name="">
            <a:extLst xmlns:a="http://schemas.openxmlformats.org/drawingml/2006/main">
              <a:ext uri="{FF2B5EF4-FFF2-40B4-BE49-F238E27FC236}">
                <a16:creationId xmlns:a16="http://schemas.microsoft.com/office/drawing/2014/main" id="{401CEA5E-7B16-4577-BAB4-EE1FC9A43333}"/>
              </a:ext>
            </a:extLst>
          </p:cNvPr>
          <p:cNvSpPr>
            <a:spLocks xmlns:a="http://schemas.openxmlformats.org/drawingml/2006/main" noGrp="1"/>
          </p:cNvSpPr>
          <p:nvPr/>
        </p:nvSpPr>
        <p:spPr>
          <a:xfrm xmlns:a="http://schemas.openxmlformats.org/drawingml/2006/main">
            <a:off x="7762875" y="4667250"/>
            <a:ext cx="3714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auditable patrol handoffs tailored to the buyer’s site.</a:t>
            </a:r>
          </a:p>
        </p:txBody>
      </p:sp>
    </p:spTree>
    <p:extLst>
      <p:ext uri="{BB962C8B-B14F-4D97-AF65-F5344CB8AC3E}">
        <p14:creationId xmlns:p14="http://schemas.microsoft.com/office/powerpoint/2010/main" val="9683553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191E3DB-C1EF-41D7-B39B-62D4B9988089}"/>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Aido Rover evidence behind the map</a:t>
            </a:r>
          </a:p>
        </p:txBody>
      </p:sp>
      <p:sp>
        <p:nvSpPr>
          <p:cNvPr id="2" name="">
            <a:extLst xmlns:a="http://schemas.openxmlformats.org/drawingml/2006/main">
              <a:ext uri="{FF2B5EF4-FFF2-40B4-BE49-F238E27FC236}">
                <a16:creationId xmlns:a16="http://schemas.microsoft.com/office/drawing/2014/main" id="{A59DEC62-366A-43E7-A93F-9E122CD9EE43}"/>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EVIDENCE   /   Company statements and visible resources   /   Accessed 5 October 2026</a:t>
            </a:r>
          </a:p>
        </p:txBody>
      </p:sp>
      <p:sp>
        <p:nvSpPr>
          <p:cNvPr id="3" name="">
            <a:extLst xmlns:a="http://schemas.openxmlformats.org/drawingml/2006/main">
              <a:ext uri="{FF2B5EF4-FFF2-40B4-BE49-F238E27FC236}">
                <a16:creationId xmlns:a16="http://schemas.microsoft.com/office/drawing/2014/main" id="{391D9394-EEEA-424F-80C5-6A8EB6481453}"/>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8</a:t>
            </a:r>
          </a:p>
        </p:txBody>
      </p:sp>
      <p:sp>
        <p:nvSpPr>
          <p:cNvPr id="4" name="">
            <a:extLst xmlns:a="http://schemas.openxmlformats.org/drawingml/2006/main">
              <a:ext uri="{FF2B5EF4-FFF2-40B4-BE49-F238E27FC236}">
                <a16:creationId xmlns:a16="http://schemas.microsoft.com/office/drawing/2014/main" id="{791926AF-17EE-4710-99CE-07A5EE4D9DB9}"/>
              </a:ext>
            </a:extLst>
          </p:cNvPr>
          <p:cNvSpPr>
            <a:spLocks xmlns:a="http://schemas.openxmlformats.org/drawingml/2006/main" noGrp="1"/>
          </p:cNvSpPr>
          <p:nvPr/>
        </p:nvSpPr>
        <p:spPr>
          <a:xfrm xmlns:a="http://schemas.openxmlformats.org/drawingml/2006/main">
            <a:off x="571500" y="1714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37D87"/>
                </a:solidFill>
                <a:latin typeface="Arial"/>
                <a:ea typeface="Arial"/>
                <a:cs typeface="Arial"/>
              </a:defRPr>
            </a:pPr>
            <a:r>
              <a:rPr sz="1650" b="1">
                <a:solidFill>
                  <a:srgbClr val="137D87"/>
                </a:solidFill>
                <a:latin typeface="Arial"/>
                <a:ea typeface="Arial"/>
                <a:cs typeface="Arial"/>
              </a:rPr>
              <a:t>1  Aido Rover</a:t>
            </a:r>
          </a:p>
        </p:txBody>
      </p:sp>
      <p:sp>
        <p:nvSpPr>
          <p:cNvPr id="5" name="">
            <a:extLst xmlns:a="http://schemas.openxmlformats.org/drawingml/2006/main">
              <a:ext uri="{FF2B5EF4-FFF2-40B4-BE49-F238E27FC236}">
                <a16:creationId xmlns:a16="http://schemas.microsoft.com/office/drawing/2014/main" id="{9001443E-AC8E-4F4A-B1AB-4450FE7ECFF4}"/>
              </a:ext>
            </a:extLst>
          </p:cNvPr>
          <p:cNvSpPr>
            <a:spLocks xmlns:a="http://schemas.openxmlformats.org/drawingml/2006/main" noGrp="1"/>
          </p:cNvSpPr>
          <p:nvPr/>
        </p:nvSpPr>
        <p:spPr>
          <a:xfrm xmlns:a="http://schemas.openxmlformats.org/drawingml/2006/main">
            <a:off x="3095625" y="1714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Outdoor autonomy and Control Center linkage. Research-stage description gives less detail on incident responsibility.</a:t>
            </a:r>
          </a:p>
        </p:txBody>
      </p:sp>
      <p:sp>
        <p:nvSpPr>
          <p:cNvPr id="6" name="">
            <a:extLst xmlns:a="http://schemas.openxmlformats.org/drawingml/2006/main">
              <a:ext uri="{FF2B5EF4-FFF2-40B4-BE49-F238E27FC236}">
                <a16:creationId xmlns:a16="http://schemas.microsoft.com/office/drawing/2014/main" id="{BD3ED50D-6534-45D1-AB78-875EDC3D96F4}"/>
              </a:ext>
            </a:extLst>
          </p:cNvPr>
          <p:cNvSpPr>
            <a:spLocks xmlns:a="http://schemas.openxmlformats.org/drawingml/2006/main" noGrp="1"/>
          </p:cNvSpPr>
          <p:nvPr/>
        </p:nvSpPr>
        <p:spPr>
          <a:xfrm xmlns:a="http://schemas.openxmlformats.org/drawingml/2006/main">
            <a:off x="3095625" y="2181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https://www.ingendynamics.com/</a:t>
            </a:r>
          </a:p>
        </p:txBody>
      </p:sp>
      <p:sp>
        <p:nvSpPr>
          <p:cNvPr id="7" name="">
            <a:extLst xmlns:a="http://schemas.openxmlformats.org/drawingml/2006/main">
              <a:ext uri="{FF2B5EF4-FFF2-40B4-BE49-F238E27FC236}">
                <a16:creationId xmlns:a16="http://schemas.microsoft.com/office/drawing/2014/main" id="{78BE58A3-D8CA-4895-B881-5377A28ECC92}"/>
              </a:ext>
            </a:extLst>
          </p:cNvPr>
          <p:cNvSpPr>
            <a:spLocks xmlns:a="http://schemas.openxmlformats.org/drawingml/2006/main" noGrp="1"/>
          </p:cNvSpPr>
          <p:nvPr/>
        </p:nvSpPr>
        <p:spPr>
          <a:xfrm xmlns:a="http://schemas.openxmlformats.org/drawingml/2006/main">
            <a:off x="571500" y="24003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2  Knightscope</a:t>
            </a:r>
          </a:p>
        </p:txBody>
      </p:sp>
      <p:sp>
        <p:nvSpPr>
          <p:cNvPr id="8" name="">
            <a:extLst xmlns:a="http://schemas.openxmlformats.org/drawingml/2006/main">
              <a:ext uri="{FF2B5EF4-FFF2-40B4-BE49-F238E27FC236}">
                <a16:creationId xmlns:a16="http://schemas.microsoft.com/office/drawing/2014/main" id="{E084A6DC-8603-4B0C-A618-7C41D9D98429}"/>
              </a:ext>
            </a:extLst>
          </p:cNvPr>
          <p:cNvSpPr>
            <a:spLocks xmlns:a="http://schemas.openxmlformats.org/drawingml/2006/main" noGrp="1"/>
          </p:cNvSpPr>
          <p:nvPr/>
        </p:nvSpPr>
        <p:spPr>
          <a:xfrm xmlns:a="http://schemas.openxmlformats.org/drawingml/2006/main">
            <a:off x="3095625" y="24003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Autonomous security messaging alongside human agents and a chain of command.</a:t>
            </a:r>
          </a:p>
        </p:txBody>
      </p:sp>
      <p:sp>
        <p:nvSpPr>
          <p:cNvPr id="9" name="">
            <a:extLst xmlns:a="http://schemas.openxmlformats.org/drawingml/2006/main">
              <a:ext uri="{FF2B5EF4-FFF2-40B4-BE49-F238E27FC236}">
                <a16:creationId xmlns:a16="http://schemas.microsoft.com/office/drawing/2014/main" id="{7D209F89-E0B9-4AAE-815B-D2B517BDE0B8}"/>
              </a:ext>
            </a:extLst>
          </p:cNvPr>
          <p:cNvSpPr>
            <a:spLocks xmlns:a="http://schemas.openxmlformats.org/drawingml/2006/main" noGrp="1"/>
          </p:cNvSpPr>
          <p:nvPr/>
        </p:nvSpPr>
        <p:spPr>
          <a:xfrm xmlns:a="http://schemas.openxmlformats.org/drawingml/2006/main">
            <a:off x="3095625" y="28670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https://knightscope.com/</a:t>
            </a:r>
          </a:p>
        </p:txBody>
      </p:sp>
      <p:sp>
        <p:nvSpPr>
          <p:cNvPr id="10" name="">
            <a:extLst xmlns:a="http://schemas.openxmlformats.org/drawingml/2006/main">
              <a:ext uri="{FF2B5EF4-FFF2-40B4-BE49-F238E27FC236}">
                <a16:creationId xmlns:a16="http://schemas.microsoft.com/office/drawing/2014/main" id="{C411E948-E06D-4E96-8BD5-6646DCDF4841}"/>
              </a:ext>
            </a:extLst>
          </p:cNvPr>
          <p:cNvSpPr>
            <a:spLocks xmlns:a="http://schemas.openxmlformats.org/drawingml/2006/main" noGrp="1"/>
          </p:cNvSpPr>
          <p:nvPr/>
        </p:nvSpPr>
        <p:spPr>
          <a:xfrm xmlns:a="http://schemas.openxmlformats.org/drawingml/2006/main">
            <a:off x="571500" y="30861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3  Asylon</a:t>
            </a:r>
          </a:p>
        </p:txBody>
      </p:sp>
      <p:sp>
        <p:nvSpPr>
          <p:cNvPr id="11" name="">
            <a:extLst xmlns:a="http://schemas.openxmlformats.org/drawingml/2006/main">
              <a:ext uri="{FF2B5EF4-FFF2-40B4-BE49-F238E27FC236}">
                <a16:creationId xmlns:a16="http://schemas.microsoft.com/office/drawing/2014/main" id="{9C28A9EB-4F18-4E00-8F9D-25EF72294F81}"/>
              </a:ext>
            </a:extLst>
          </p:cNvPr>
          <p:cNvSpPr>
            <a:spLocks xmlns:a="http://schemas.openxmlformats.org/drawingml/2006/main" noGrp="1"/>
          </p:cNvSpPr>
          <p:nvPr/>
        </p:nvSpPr>
        <p:spPr>
          <a:xfrm xmlns:a="http://schemas.openxmlformats.org/drawingml/2006/main">
            <a:off x="3095625" y="30861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Robotic patrol with human oversight and an operations center that verifies and escalates.</a:t>
            </a:r>
          </a:p>
        </p:txBody>
      </p:sp>
      <p:sp>
        <p:nvSpPr>
          <p:cNvPr id="12" name="">
            <a:extLst xmlns:a="http://schemas.openxmlformats.org/drawingml/2006/main">
              <a:ext uri="{FF2B5EF4-FFF2-40B4-BE49-F238E27FC236}">
                <a16:creationId xmlns:a16="http://schemas.microsoft.com/office/drawing/2014/main" id="{A46FA8F1-F878-499F-BE8D-FE8ABC34AC09}"/>
              </a:ext>
            </a:extLst>
          </p:cNvPr>
          <p:cNvSpPr>
            <a:spLocks xmlns:a="http://schemas.openxmlformats.org/drawingml/2006/main" noGrp="1"/>
          </p:cNvSpPr>
          <p:nvPr/>
        </p:nvSpPr>
        <p:spPr>
          <a:xfrm xmlns:a="http://schemas.openxmlformats.org/drawingml/2006/main">
            <a:off x="3095625" y="35528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https://asylonrobotics.com/</a:t>
            </a:r>
          </a:p>
        </p:txBody>
      </p:sp>
      <p:sp>
        <p:nvSpPr>
          <p:cNvPr id="13" name="">
            <a:extLst xmlns:a="http://schemas.openxmlformats.org/drawingml/2006/main">
              <a:ext uri="{FF2B5EF4-FFF2-40B4-BE49-F238E27FC236}">
                <a16:creationId xmlns:a16="http://schemas.microsoft.com/office/drawing/2014/main" id="{B7518CE2-FD07-4EB0-AA11-F5E5848BA00E}"/>
              </a:ext>
            </a:extLst>
          </p:cNvPr>
          <p:cNvSpPr>
            <a:spLocks xmlns:a="http://schemas.openxmlformats.org/drawingml/2006/main" noGrp="1"/>
          </p:cNvSpPr>
          <p:nvPr/>
        </p:nvSpPr>
        <p:spPr>
          <a:xfrm xmlns:a="http://schemas.openxmlformats.org/drawingml/2006/main">
            <a:off x="571500" y="37719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4  Cobalt AI</a:t>
            </a:r>
          </a:p>
        </p:txBody>
      </p:sp>
      <p:sp>
        <p:nvSpPr>
          <p:cNvPr id="14" name="">
            <a:extLst xmlns:a="http://schemas.openxmlformats.org/drawingml/2006/main">
              <a:ext uri="{FF2B5EF4-FFF2-40B4-BE49-F238E27FC236}">
                <a16:creationId xmlns:a16="http://schemas.microsoft.com/office/drawing/2014/main" id="{B0321317-4ED2-4B89-B39B-739DC0FD170F}"/>
              </a:ext>
            </a:extLst>
          </p:cNvPr>
          <p:cNvSpPr>
            <a:spLocks xmlns:a="http://schemas.openxmlformats.org/drawingml/2006/main" noGrp="1"/>
          </p:cNvSpPr>
          <p:nvPr/>
        </p:nvSpPr>
        <p:spPr>
          <a:xfrm xmlns:a="http://schemas.openxmlformats.org/drawingml/2006/main">
            <a:off x="3095625" y="37719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Automated investigation with explicit human judgment. Current homepage positions a security platform.</a:t>
            </a:r>
          </a:p>
        </p:txBody>
      </p:sp>
      <p:sp>
        <p:nvSpPr>
          <p:cNvPr id="15" name="">
            <a:extLst xmlns:a="http://schemas.openxmlformats.org/drawingml/2006/main">
              <a:ext uri="{FF2B5EF4-FFF2-40B4-BE49-F238E27FC236}">
                <a16:creationId xmlns:a16="http://schemas.microsoft.com/office/drawing/2014/main" id="{04B95D8F-CC7F-493F-BB05-0ADF518973EF}"/>
              </a:ext>
            </a:extLst>
          </p:cNvPr>
          <p:cNvSpPr>
            <a:spLocks xmlns:a="http://schemas.openxmlformats.org/drawingml/2006/main" noGrp="1"/>
          </p:cNvSpPr>
          <p:nvPr/>
        </p:nvSpPr>
        <p:spPr>
          <a:xfrm xmlns:a="http://schemas.openxmlformats.org/drawingml/2006/main">
            <a:off x="3095625" y="42386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https://www.cobaltai.com/</a:t>
            </a:r>
          </a:p>
        </p:txBody>
      </p:sp>
      <p:sp>
        <p:nvSpPr>
          <p:cNvPr id="16" name="">
            <a:extLst xmlns:a="http://schemas.openxmlformats.org/drawingml/2006/main">
              <a:ext uri="{FF2B5EF4-FFF2-40B4-BE49-F238E27FC236}">
                <a16:creationId xmlns:a16="http://schemas.microsoft.com/office/drawing/2014/main" id="{42C6AEBF-918B-46D4-B21F-2F8EEC42FF09}"/>
              </a:ext>
            </a:extLst>
          </p:cNvPr>
          <p:cNvSpPr>
            <a:spLocks xmlns:a="http://schemas.openxmlformats.org/drawingml/2006/main" noGrp="1"/>
          </p:cNvSpPr>
          <p:nvPr/>
        </p:nvSpPr>
        <p:spPr>
          <a:xfrm xmlns:a="http://schemas.openxmlformats.org/drawingml/2006/main">
            <a:off x="571500" y="44577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5  RAD ROAMEO</a:t>
            </a:r>
          </a:p>
        </p:txBody>
      </p:sp>
      <p:sp>
        <p:nvSpPr>
          <p:cNvPr id="17" name="">
            <a:extLst xmlns:a="http://schemas.openxmlformats.org/drawingml/2006/main">
              <a:ext uri="{FF2B5EF4-FFF2-40B4-BE49-F238E27FC236}">
                <a16:creationId xmlns:a16="http://schemas.microsoft.com/office/drawing/2014/main" id="{9FC2159A-57B3-4337-B96C-00DA4D128E2B}"/>
              </a:ext>
            </a:extLst>
          </p:cNvPr>
          <p:cNvSpPr>
            <a:spLocks xmlns:a="http://schemas.openxmlformats.org/drawingml/2006/main" noGrp="1"/>
          </p:cNvSpPr>
          <p:nvPr/>
        </p:nvSpPr>
        <p:spPr>
          <a:xfrm xmlns:a="http://schemas.openxmlformats.org/drawingml/2006/main">
            <a:off x="3095625" y="44577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Mapped patrol, detection and response dominate the reviewed homepage. Human handoff detail is less visible there.</a:t>
            </a:r>
          </a:p>
        </p:txBody>
      </p:sp>
      <p:sp>
        <p:nvSpPr>
          <p:cNvPr id="18" name="">
            <a:extLst xmlns:a="http://schemas.openxmlformats.org/drawingml/2006/main">
              <a:ext uri="{FF2B5EF4-FFF2-40B4-BE49-F238E27FC236}">
                <a16:creationId xmlns:a16="http://schemas.microsoft.com/office/drawing/2014/main" id="{53CD6F83-20AB-4E27-A053-DEC72469C360}"/>
              </a:ext>
            </a:extLst>
          </p:cNvPr>
          <p:cNvSpPr>
            <a:spLocks xmlns:a="http://schemas.openxmlformats.org/drawingml/2006/main" noGrp="1"/>
          </p:cNvSpPr>
          <p:nvPr/>
        </p:nvSpPr>
        <p:spPr>
          <a:xfrm xmlns:a="http://schemas.openxmlformats.org/drawingml/2006/main">
            <a:off x="3095625" y="49244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https://radsecurity.com/</a:t>
            </a:r>
          </a:p>
        </p:txBody>
      </p:sp>
      <p:sp>
        <p:nvSpPr>
          <p:cNvPr id="19" name="">
            <a:extLst xmlns:a="http://schemas.openxmlformats.org/drawingml/2006/main">
              <a:ext uri="{FF2B5EF4-FFF2-40B4-BE49-F238E27FC236}">
                <a16:creationId xmlns:a16="http://schemas.microsoft.com/office/drawing/2014/main" id="{EE31AC7A-A403-4A1D-AD32-9E580A4F85EB}"/>
              </a:ext>
            </a:extLst>
          </p:cNvPr>
          <p:cNvSpPr>
            <a:spLocks xmlns:a="http://schemas.openxmlformats.org/drawingml/2006/main" noGrp="1"/>
          </p:cNvSpPr>
          <p:nvPr/>
        </p:nvSpPr>
        <p:spPr>
          <a:xfrm xmlns:a="http://schemas.openxmlformats.org/drawingml/2006/main">
            <a:off x="571500" y="5143500"/>
            <a:ext cx="238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83849"/>
                </a:solidFill>
                <a:latin typeface="Arial"/>
                <a:ea typeface="Arial"/>
                <a:cs typeface="Arial"/>
              </a:defRPr>
            </a:pPr>
            <a:r>
              <a:rPr sz="1650" b="1">
                <a:solidFill>
                  <a:srgbClr val="183849"/>
                </a:solidFill>
                <a:latin typeface="Arial"/>
                <a:ea typeface="Arial"/>
                <a:cs typeface="Arial"/>
              </a:rPr>
              <a:t>6  Boston Dynamics Spot</a:t>
            </a:r>
          </a:p>
        </p:txBody>
      </p:sp>
      <p:sp>
        <p:nvSpPr>
          <p:cNvPr id="20" name="">
            <a:extLst xmlns:a="http://schemas.openxmlformats.org/drawingml/2006/main">
              <a:ext uri="{FF2B5EF4-FFF2-40B4-BE49-F238E27FC236}">
                <a16:creationId xmlns:a16="http://schemas.microsoft.com/office/drawing/2014/main" id="{7687897C-DD6A-407E-B3B4-9D39BE927C98}"/>
              </a:ext>
            </a:extLst>
          </p:cNvPr>
          <p:cNvSpPr>
            <a:spLocks xmlns:a="http://schemas.openxmlformats.org/drawingml/2006/main" noGrp="1"/>
          </p:cNvSpPr>
          <p:nvPr/>
        </p:nvSpPr>
        <p:spPr>
          <a:xfrm xmlns:a="http://schemas.openxmlformats.org/drawingml/2006/main">
            <a:off x="3095625" y="5143500"/>
            <a:ext cx="8382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83849"/>
                </a:solidFill>
                <a:latin typeface="Arial"/>
                <a:ea typeface="Arial"/>
                <a:cs typeface="Arial"/>
              </a:defRPr>
            </a:pPr>
            <a:r>
              <a:rPr sz="1500" b="0">
                <a:solidFill>
                  <a:srgbClr val="183849"/>
                </a:solidFill>
                <a:latin typeface="Arial"/>
                <a:ea typeface="Arial"/>
                <a:cs typeface="Arial"/>
              </a:rPr>
              <a:t>Autonomous inspection and remote operator investigation. Broader industrial comparison.</a:t>
            </a:r>
          </a:p>
        </p:txBody>
      </p:sp>
      <p:sp>
        <p:nvSpPr>
          <p:cNvPr id="21" name="">
            <a:extLst xmlns:a="http://schemas.openxmlformats.org/drawingml/2006/main">
              <a:ext uri="{FF2B5EF4-FFF2-40B4-BE49-F238E27FC236}">
                <a16:creationId xmlns:a16="http://schemas.microsoft.com/office/drawing/2014/main" id="{91DB5E40-7540-4250-9237-A93F9E9F6D5C}"/>
              </a:ext>
            </a:extLst>
          </p:cNvPr>
          <p:cNvSpPr>
            <a:spLocks xmlns:a="http://schemas.openxmlformats.org/drawingml/2006/main" noGrp="1"/>
          </p:cNvSpPr>
          <p:nvPr/>
        </p:nvSpPr>
        <p:spPr>
          <a:xfrm xmlns:a="http://schemas.openxmlformats.org/drawingml/2006/main">
            <a:off x="3095625" y="5610225"/>
            <a:ext cx="8382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https://bostondynamics.com/products/spot/</a:t>
            </a:r>
          </a:p>
        </p:txBody>
      </p:sp>
      <p:sp>
        <p:nvSpPr>
          <p:cNvPr id="22" name="">
            <a:extLst xmlns:a="http://schemas.openxmlformats.org/drawingml/2006/main">
              <a:ext uri="{FF2B5EF4-FFF2-40B4-BE49-F238E27FC236}">
                <a16:creationId xmlns:a16="http://schemas.microsoft.com/office/drawing/2014/main" id="{2252A7F5-01CB-45B1-B105-B194427E3239}"/>
              </a:ext>
            </a:extLst>
          </p:cNvPr>
          <p:cNvSpPr>
            <a:spLocks xmlns:a="http://schemas.openxmlformats.org/drawingml/2006/main" noGrp="1"/>
          </p:cNvSpPr>
          <p:nvPr/>
        </p:nvSpPr>
        <p:spPr>
          <a:xfrm xmlns:a="http://schemas.openxmlformats.org/drawingml/2006/main">
            <a:off x="571500" y="5981700"/>
            <a:ext cx="1095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0616A"/>
                </a:solidFill>
                <a:latin typeface="Arial"/>
                <a:ea typeface="Arial"/>
                <a:cs typeface="Arial"/>
              </a:defRPr>
            </a:pPr>
            <a:r>
              <a:rPr sz="1275" b="0">
                <a:solidFill>
                  <a:srgbClr val="50616A"/>
                </a:solidFill>
                <a:latin typeface="Arial"/>
                <a:ea typeface="Arial"/>
                <a:cs typeface="Arial"/>
              </a:rPr>
              <a:t>Comparison set: Knightscope, Asylon, Cobalt AI (adjacent), RAD ROAMEO, Boston Dynamics Spot (adjacent)</a:t>
            </a:r>
          </a:p>
        </p:txBody>
      </p:sp>
    </p:spTree>
    <p:extLst>
      <p:ext uri="{BB962C8B-B14F-4D97-AF65-F5344CB8AC3E}">
        <p14:creationId xmlns:p14="http://schemas.microsoft.com/office/powerpoint/2010/main" val="14721194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29C5962-3994-42C1-A672-A7B4D2DB5DE9}"/>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Recommendations become three reviewable assets</a:t>
            </a:r>
          </a:p>
        </p:txBody>
      </p:sp>
      <p:sp>
        <p:nvSpPr>
          <p:cNvPr id="2" name="">
            <a:extLst xmlns:a="http://schemas.openxmlformats.org/drawingml/2006/main">
              <a:ext uri="{FF2B5EF4-FFF2-40B4-BE49-F238E27FC236}">
                <a16:creationId xmlns:a16="http://schemas.microsoft.com/office/drawing/2014/main" id="{EC428A1C-000B-4DDA-B84F-5515343EFD87}"/>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ACTION   /   Proposed sequence for the next working week</a:t>
            </a:r>
          </a:p>
        </p:txBody>
      </p:sp>
      <p:sp>
        <p:nvSpPr>
          <p:cNvPr id="3" name="">
            <a:extLst xmlns:a="http://schemas.openxmlformats.org/drawingml/2006/main">
              <a:ext uri="{FF2B5EF4-FFF2-40B4-BE49-F238E27FC236}">
                <a16:creationId xmlns:a16="http://schemas.microsoft.com/office/drawing/2014/main" id="{28B0C4F6-E896-4642-8500-6088B0A6A925}"/>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9</a:t>
            </a:r>
          </a:p>
        </p:txBody>
      </p:sp>
      <p:sp>
        <p:nvSpPr>
          <p:cNvPr id="4" name="">
            <a:extLst xmlns:a="http://schemas.openxmlformats.org/drawingml/2006/main">
              <a:ext uri="{FF2B5EF4-FFF2-40B4-BE49-F238E27FC236}">
                <a16:creationId xmlns:a16="http://schemas.microsoft.com/office/drawing/2014/main" id="{55EC1094-418F-46AB-A5B4-EC3D344A289F}"/>
              </a:ext>
            </a:extLst>
          </p:cNvPr>
          <p:cNvSpPr>
            <a:spLocks xmlns:a="http://schemas.openxmlformats.org/drawingml/2006/main" noGrp="1"/>
          </p:cNvSpPr>
          <p:nvPr/>
        </p:nvSpPr>
        <p:spPr>
          <a:xfrm xmlns:a="http://schemas.openxmlformats.org/drawingml/2006/main">
            <a:off x="571500" y="174307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7D87"/>
                </a:solidFill>
                <a:latin typeface="Arial"/>
                <a:ea typeface="Arial"/>
                <a:cs typeface="Arial"/>
              </a:defRPr>
            </a:pPr>
            <a:r>
              <a:rPr sz="1800" b="1">
                <a:solidFill>
                  <a:srgbClr val="137D87"/>
                </a:solidFill>
                <a:latin typeface="Arial"/>
                <a:ea typeface="Arial"/>
                <a:cs typeface="Arial"/>
              </a:rPr>
              <a:t>Days 1–2</a:t>
            </a:r>
          </a:p>
        </p:txBody>
      </p:sp>
      <p:sp>
        <p:nvSpPr>
          <p:cNvPr id="5" name="">
            <a:extLst xmlns:a="http://schemas.openxmlformats.org/drawingml/2006/main">
              <a:ext uri="{FF2B5EF4-FFF2-40B4-BE49-F238E27FC236}">
                <a16:creationId xmlns:a16="http://schemas.microsoft.com/office/drawing/2014/main" id="{0DD22B76-3916-4595-8BB2-3F75AC9A6A10}"/>
              </a:ext>
            </a:extLst>
          </p:cNvPr>
          <p:cNvSpPr>
            <a:spLocks xmlns:a="http://schemas.openxmlformats.org/drawingml/2006/main" noGrp="1"/>
          </p:cNvSpPr>
          <p:nvPr/>
        </p:nvSpPr>
        <p:spPr>
          <a:xfrm xmlns:a="http://schemas.openxmlformats.org/drawingml/2006/main">
            <a:off x="2428875" y="1733550"/>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Xuan drafts</a:t>
            </a:r>
          </a:p>
        </p:txBody>
      </p:sp>
      <p:sp>
        <p:nvSpPr>
          <p:cNvPr id="6" name="">
            <a:extLst xmlns:a="http://schemas.openxmlformats.org/drawingml/2006/main">
              <a:ext uri="{FF2B5EF4-FFF2-40B4-BE49-F238E27FC236}">
                <a16:creationId xmlns:a16="http://schemas.microsoft.com/office/drawing/2014/main" id="{2D87BCEB-17E4-4D80-AF78-CBCB96C62409}"/>
              </a:ext>
            </a:extLst>
          </p:cNvPr>
          <p:cNvSpPr>
            <a:spLocks xmlns:a="http://schemas.openxmlformats.org/drawingml/2006/main" noGrp="1"/>
          </p:cNvSpPr>
          <p:nvPr/>
        </p:nvSpPr>
        <p:spPr>
          <a:xfrm xmlns:a="http://schemas.openxmlformats.org/drawingml/2006/main">
            <a:off x="2428875" y="2105025"/>
            <a:ext cx="885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Fari consent concept and evidence-status sheet. Senpai lesson and teacher correction. Rover incident handoff.</a:t>
            </a:r>
          </a:p>
        </p:txBody>
      </p:sp>
      <p:sp>
        <p:nvSpPr>
          <p:cNvPr id="7" name="">
            <a:extLst xmlns:a="http://schemas.openxmlformats.org/drawingml/2006/main">
              <a:ext uri="{FF2B5EF4-FFF2-40B4-BE49-F238E27FC236}">
                <a16:creationId xmlns:a16="http://schemas.microsoft.com/office/drawing/2014/main" id="{B0F4C271-F2B8-4A2D-B90A-0612343304EA}"/>
              </a:ext>
            </a:extLst>
          </p:cNvPr>
          <p:cNvSpPr>
            <a:spLocks xmlns:a="http://schemas.openxmlformats.org/drawingml/2006/main" noGrp="1"/>
          </p:cNvSpPr>
          <p:nvPr/>
        </p:nvSpPr>
        <p:spPr>
          <a:xfrm xmlns:a="http://schemas.openxmlformats.org/drawingml/2006/main">
            <a:off x="571500" y="278130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7D87"/>
                </a:solidFill>
                <a:latin typeface="Arial"/>
                <a:ea typeface="Arial"/>
                <a:cs typeface="Arial"/>
              </a:defRPr>
            </a:pPr>
            <a:r>
              <a:rPr sz="1800" b="1">
                <a:solidFill>
                  <a:srgbClr val="137D87"/>
                </a:solidFill>
                <a:latin typeface="Arial"/>
                <a:ea typeface="Arial"/>
                <a:cs typeface="Arial"/>
              </a:rPr>
              <a:t>Day 3</a:t>
            </a:r>
          </a:p>
        </p:txBody>
      </p:sp>
      <p:sp>
        <p:nvSpPr>
          <p:cNvPr id="8" name="">
            <a:extLst xmlns:a="http://schemas.openxmlformats.org/drawingml/2006/main">
              <a:ext uri="{FF2B5EF4-FFF2-40B4-BE49-F238E27FC236}">
                <a16:creationId xmlns:a16="http://schemas.microsoft.com/office/drawing/2014/main" id="{C67FA160-58B0-482D-973F-1EAE13117426}"/>
              </a:ext>
            </a:extLst>
          </p:cNvPr>
          <p:cNvSpPr>
            <a:spLocks xmlns:a="http://schemas.openxmlformats.org/drawingml/2006/main" noGrp="1"/>
          </p:cNvSpPr>
          <p:nvPr/>
        </p:nvSpPr>
        <p:spPr>
          <a:xfrm xmlns:a="http://schemas.openxmlformats.org/drawingml/2006/main">
            <a:off x="2428875" y="277177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InGen product owner reviews</a:t>
            </a:r>
          </a:p>
        </p:txBody>
      </p:sp>
      <p:sp>
        <p:nvSpPr>
          <p:cNvPr id="9" name="">
            <a:extLst xmlns:a="http://schemas.openxmlformats.org/drawingml/2006/main">
              <a:ext uri="{FF2B5EF4-FFF2-40B4-BE49-F238E27FC236}">
                <a16:creationId xmlns:a16="http://schemas.microsoft.com/office/drawing/2014/main" id="{C6CA1418-5AC1-4E26-8F25-6409FA2DD2AD}"/>
              </a:ext>
            </a:extLst>
          </p:cNvPr>
          <p:cNvSpPr>
            <a:spLocks xmlns:a="http://schemas.openxmlformats.org/drawingml/2006/main" noGrp="1"/>
          </p:cNvSpPr>
          <p:nvPr/>
        </p:nvSpPr>
        <p:spPr>
          <a:xfrm xmlns:a="http://schemas.openxmlformats.org/drawingml/2006/main">
            <a:off x="2428875" y="3143250"/>
            <a:ext cx="885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Confirm development status, supported claims and the human role. Remove any unverified outcome or certification.</a:t>
            </a:r>
          </a:p>
        </p:txBody>
      </p:sp>
      <p:sp>
        <p:nvSpPr>
          <p:cNvPr id="10" name="">
            <a:extLst xmlns:a="http://schemas.openxmlformats.org/drawingml/2006/main">
              <a:ext uri="{FF2B5EF4-FFF2-40B4-BE49-F238E27FC236}">
                <a16:creationId xmlns:a16="http://schemas.microsoft.com/office/drawing/2014/main" id="{5FDD719F-7A5E-4C23-9A45-1ABEABDBC24A}"/>
              </a:ext>
            </a:extLst>
          </p:cNvPr>
          <p:cNvSpPr>
            <a:spLocks xmlns:a="http://schemas.openxmlformats.org/drawingml/2006/main" noGrp="1"/>
          </p:cNvSpPr>
          <p:nvPr/>
        </p:nvSpPr>
        <p:spPr>
          <a:xfrm xmlns:a="http://schemas.openxmlformats.org/drawingml/2006/main">
            <a:off x="571500" y="3819525"/>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7D87"/>
                </a:solidFill>
                <a:latin typeface="Arial"/>
                <a:ea typeface="Arial"/>
                <a:cs typeface="Arial"/>
              </a:defRPr>
            </a:pPr>
            <a:r>
              <a:rPr sz="1800" b="1">
                <a:solidFill>
                  <a:srgbClr val="137D87"/>
                </a:solidFill>
                <a:latin typeface="Arial"/>
                <a:ea typeface="Arial"/>
                <a:cs typeface="Arial"/>
              </a:rPr>
              <a:t>Days 4–5</a:t>
            </a:r>
          </a:p>
        </p:txBody>
      </p:sp>
      <p:sp>
        <p:nvSpPr>
          <p:cNvPr id="11" name="">
            <a:extLst xmlns:a="http://schemas.openxmlformats.org/drawingml/2006/main">
              <a:ext uri="{FF2B5EF4-FFF2-40B4-BE49-F238E27FC236}">
                <a16:creationId xmlns:a16="http://schemas.microsoft.com/office/drawing/2014/main" id="{8BD80F30-DA11-4DB0-91DC-34C8F3546F89}"/>
              </a:ext>
            </a:extLst>
          </p:cNvPr>
          <p:cNvSpPr>
            <a:spLocks xmlns:a="http://schemas.openxmlformats.org/drawingml/2006/main" noGrp="1"/>
          </p:cNvSpPr>
          <p:nvPr/>
        </p:nvSpPr>
        <p:spPr>
          <a:xfrm xmlns:a="http://schemas.openxmlformats.org/drawingml/2006/main">
            <a:off x="2428875" y="3810000"/>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Approved formative reviews</a:t>
            </a:r>
          </a:p>
        </p:txBody>
      </p:sp>
      <p:sp>
        <p:nvSpPr>
          <p:cNvPr id="12" name="">
            <a:extLst xmlns:a="http://schemas.openxmlformats.org/drawingml/2006/main">
              <a:ext uri="{FF2B5EF4-FFF2-40B4-BE49-F238E27FC236}">
                <a16:creationId xmlns:a16="http://schemas.microsoft.com/office/drawing/2014/main" id="{6389C521-E3EA-4C2F-9E11-B0F5E67CB076}"/>
              </a:ext>
            </a:extLst>
          </p:cNvPr>
          <p:cNvSpPr>
            <a:spLocks xmlns:a="http://schemas.openxmlformats.org/drawingml/2006/main" noGrp="1"/>
          </p:cNvSpPr>
          <p:nvPr/>
        </p:nvSpPr>
        <p:spPr>
          <a:xfrm xmlns:a="http://schemas.openxmlformats.org/drawingml/2006/main">
            <a:off x="2428875" y="4181475"/>
            <a:ext cx="885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Five older adults for Fari; three teachers and one administrator for Senpai; two security professionals for Rover.</a:t>
            </a:r>
          </a:p>
        </p:txBody>
      </p:sp>
      <p:sp>
        <p:nvSpPr>
          <p:cNvPr id="13" name="">
            <a:extLst xmlns:a="http://schemas.openxmlformats.org/drawingml/2006/main">
              <a:ext uri="{FF2B5EF4-FFF2-40B4-BE49-F238E27FC236}">
                <a16:creationId xmlns:a16="http://schemas.microsoft.com/office/drawing/2014/main" id="{ECAD89D7-ECDB-4949-B834-8D03C4B7CF0A}"/>
              </a:ext>
            </a:extLst>
          </p:cNvPr>
          <p:cNvSpPr>
            <a:spLocks xmlns:a="http://schemas.openxmlformats.org/drawingml/2006/main" noGrp="1"/>
          </p:cNvSpPr>
          <p:nvPr/>
        </p:nvSpPr>
        <p:spPr>
          <a:xfrm xmlns:a="http://schemas.openxmlformats.org/drawingml/2006/main">
            <a:off x="571500" y="48577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37D87"/>
                </a:solidFill>
                <a:latin typeface="Arial"/>
                <a:ea typeface="Arial"/>
                <a:cs typeface="Arial"/>
              </a:defRPr>
            </a:pPr>
            <a:r>
              <a:rPr sz="1800" b="1">
                <a:solidFill>
                  <a:srgbClr val="137D87"/>
                </a:solidFill>
                <a:latin typeface="Arial"/>
                <a:ea typeface="Arial"/>
                <a:cs typeface="Arial"/>
              </a:rPr>
              <a:t>Decision</a:t>
            </a:r>
          </a:p>
        </p:txBody>
      </p:sp>
      <p:sp>
        <p:nvSpPr>
          <p:cNvPr id="14" name="">
            <a:extLst xmlns:a="http://schemas.openxmlformats.org/drawingml/2006/main">
              <a:ext uri="{FF2B5EF4-FFF2-40B4-BE49-F238E27FC236}">
                <a16:creationId xmlns:a16="http://schemas.microsoft.com/office/drawing/2014/main" id="{1BA47865-0B18-4D49-9914-95A4DC128B09}"/>
              </a:ext>
            </a:extLst>
          </p:cNvPr>
          <p:cNvSpPr>
            <a:spLocks xmlns:a="http://schemas.openxmlformats.org/drawingml/2006/main" noGrp="1"/>
          </p:cNvSpPr>
          <p:nvPr/>
        </p:nvSpPr>
        <p:spPr>
          <a:xfrm xmlns:a="http://schemas.openxmlformats.org/drawingml/2006/main">
            <a:off x="2428875" y="4848225"/>
            <a:ext cx="8858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83849"/>
                </a:solidFill>
                <a:latin typeface="Arial"/>
                <a:ea typeface="Arial"/>
                <a:cs typeface="Arial"/>
              </a:defRPr>
            </a:pPr>
            <a:r>
              <a:rPr sz="1875" b="1">
                <a:solidFill>
                  <a:srgbClr val="183849"/>
                </a:solidFill>
                <a:latin typeface="Arial"/>
                <a:ea typeface="Arial"/>
                <a:cs typeface="Arial"/>
              </a:rPr>
              <a:t>Revise before wider use</a:t>
            </a:r>
          </a:p>
        </p:txBody>
      </p:sp>
      <p:sp>
        <p:nvSpPr>
          <p:cNvPr id="15" name="">
            <a:extLst xmlns:a="http://schemas.openxmlformats.org/drawingml/2006/main">
              <a:ext uri="{FF2B5EF4-FFF2-40B4-BE49-F238E27FC236}">
                <a16:creationId xmlns:a16="http://schemas.microsoft.com/office/drawing/2014/main" id="{EF0A1723-307F-4CC7-8407-BF0A9FFC59CA}"/>
              </a:ext>
            </a:extLst>
          </p:cNvPr>
          <p:cNvSpPr>
            <a:spLocks xmlns:a="http://schemas.openxmlformats.org/drawingml/2006/main" noGrp="1"/>
          </p:cNvSpPr>
          <p:nvPr/>
        </p:nvSpPr>
        <p:spPr>
          <a:xfrm xmlns:a="http://schemas.openxmlformats.org/drawingml/2006/main">
            <a:off x="2428875" y="5219700"/>
            <a:ext cx="885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3849"/>
                </a:solidFill>
                <a:latin typeface="Arial"/>
                <a:ea typeface="Arial"/>
                <a:cs typeface="Arial"/>
              </a:defRPr>
            </a:pPr>
            <a:r>
              <a:rPr sz="1725" b="0">
                <a:solidFill>
                  <a:srgbClr val="183849"/>
                </a:solidFill>
                <a:latin typeface="Arial"/>
                <a:ea typeface="Arial"/>
                <a:cs typeface="Arial"/>
              </a:rPr>
              <a:t>Record misunderstanding, role confusion and missing proof. Small reviews guide revisions, not market-size or performance claims.</a:t>
            </a:r>
          </a:p>
        </p:txBody>
      </p:sp>
    </p:spTree>
    <p:extLst>
      <p:ext uri="{BB962C8B-B14F-4D97-AF65-F5344CB8AC3E}">
        <p14:creationId xmlns:p14="http://schemas.microsoft.com/office/powerpoint/2010/main" val="19365358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A8C0A3-AA42-4ABC-A3C0-C3FC5329F167}"/>
              </a:ext>
            </a:extLst>
          </p:cNvPr>
          <p:cNvSpPr>
            <a:spLocks xmlns:a="http://schemas.openxmlformats.org/drawingml/2006/main" noGrp="1"/>
          </p:cNvSpPr>
          <p:nvPr/>
        </p:nvSpPr>
        <p:spPr>
          <a:xfrm xmlns:a="http://schemas.openxmlformats.org/drawingml/2006/main">
            <a:off x="552450" y="342900"/>
            <a:ext cx="1108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83849"/>
                </a:solidFill>
                <a:latin typeface="Arial"/>
                <a:ea typeface="Arial"/>
                <a:cs typeface="Arial"/>
              </a:defRPr>
            </a:pPr>
            <a:r>
              <a:rPr sz="3000" b="1">
                <a:solidFill>
                  <a:srgbClr val="183849"/>
                </a:solidFill>
                <a:latin typeface="Arial"/>
                <a:ea typeface="Arial"/>
                <a:cs typeface="Arial"/>
              </a:rPr>
              <a:t>Findings and limits</a:t>
            </a:r>
          </a:p>
        </p:txBody>
      </p:sp>
      <p:sp>
        <p:nvSpPr>
          <p:cNvPr id="2" name="">
            <a:extLst xmlns:a="http://schemas.openxmlformats.org/drawingml/2006/main">
              <a:ext uri="{FF2B5EF4-FFF2-40B4-BE49-F238E27FC236}">
                <a16:creationId xmlns:a16="http://schemas.microsoft.com/office/drawing/2014/main" id="{24CA664F-7764-4418-BAEA-34D34A839F3A}"/>
              </a:ext>
            </a:extLst>
          </p:cNvPr>
          <p:cNvSpPr>
            <a:spLocks xmlns:a="http://schemas.openxmlformats.org/drawingml/2006/main" noGrp="1"/>
          </p:cNvSpPr>
          <p:nvPr/>
        </p:nvSpPr>
        <p:spPr>
          <a:xfrm xmlns:a="http://schemas.openxmlformats.org/drawingml/2006/main">
            <a:off x="571500" y="1085850"/>
            <a:ext cx="10953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0616A"/>
                </a:solidFill>
                <a:latin typeface="Arial"/>
                <a:ea typeface="Arial"/>
                <a:cs typeface="Arial"/>
              </a:defRPr>
            </a:pPr>
            <a:r>
              <a:rPr sz="1650" b="0">
                <a:solidFill>
                  <a:srgbClr val="50616A"/>
                </a:solidFill>
                <a:latin typeface="Arial"/>
                <a:ea typeface="Arial"/>
                <a:cs typeface="Arial"/>
              </a:rPr>
              <a:t>The evidence supports a communication agenda, not a claim of exclusive market ownership.</a:t>
            </a:r>
          </a:p>
        </p:txBody>
      </p:sp>
      <p:sp>
        <p:nvSpPr>
          <p:cNvPr id="3" name="">
            <a:extLst xmlns:a="http://schemas.openxmlformats.org/drawingml/2006/main">
              <a:ext uri="{FF2B5EF4-FFF2-40B4-BE49-F238E27FC236}">
                <a16:creationId xmlns:a16="http://schemas.microsoft.com/office/drawing/2014/main" id="{D96E16AF-4570-4E58-898B-1BEF057554D7}"/>
              </a:ext>
            </a:extLst>
          </p:cNvPr>
          <p:cNvSpPr>
            <a:spLocks xmlns:a="http://schemas.openxmlformats.org/drawingml/2006/main" noGrp="1"/>
          </p:cNvSpPr>
          <p:nvPr/>
        </p:nvSpPr>
        <p:spPr>
          <a:xfrm xmlns:a="http://schemas.openxmlformats.org/drawingml/2006/main">
            <a:off x="571500" y="6477000"/>
            <a:ext cx="11049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50616A"/>
                </a:solidFill>
                <a:latin typeface="Arial"/>
                <a:ea typeface="Arial"/>
                <a:cs typeface="Arial"/>
              </a:defRPr>
            </a:pPr>
            <a:r>
              <a:rPr sz="1125" b="0">
                <a:solidFill>
                  <a:srgbClr val="50616A"/>
                </a:solidFill>
                <a:latin typeface="Arial"/>
                <a:ea typeface="Arial"/>
                <a:cs typeface="Arial"/>
              </a:rPr>
              <a:t>Xuan Li   /   Week 2   /   5 October 2026                                      10</a:t>
            </a:r>
          </a:p>
        </p:txBody>
      </p:sp>
      <p:sp>
        <p:nvSpPr>
          <p:cNvPr id="4" name="">
            <a:extLst xmlns:a="http://schemas.openxmlformats.org/drawingml/2006/main">
              <a:ext uri="{FF2B5EF4-FFF2-40B4-BE49-F238E27FC236}">
                <a16:creationId xmlns:a16="http://schemas.microsoft.com/office/drawing/2014/main" id="{DD5682A4-88DE-4C44-A776-0A9E9B78D49D}"/>
              </a:ext>
            </a:extLst>
          </p:cNvPr>
          <p:cNvSpPr>
            <a:spLocks xmlns:a="http://schemas.openxmlformats.org/drawingml/2006/main" noGrp="1"/>
          </p:cNvSpPr>
          <p:nvPr/>
        </p:nvSpPr>
        <p:spPr>
          <a:xfrm xmlns:a="http://schemas.openxmlformats.org/drawingml/2006/main">
            <a:off x="571500" y="17811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Fari</a:t>
            </a:r>
          </a:p>
        </p:txBody>
      </p:sp>
      <p:sp>
        <p:nvSpPr>
          <p:cNvPr id="5" name="">
            <a:extLst xmlns:a="http://schemas.openxmlformats.org/drawingml/2006/main">
              <a:ext uri="{FF2B5EF4-FFF2-40B4-BE49-F238E27FC236}">
                <a16:creationId xmlns:a16="http://schemas.microsoft.com/office/drawing/2014/main" id="{C41F1C69-8E4E-4C70-B241-7D543BC6DD11}"/>
              </a:ext>
            </a:extLst>
          </p:cNvPr>
          <p:cNvSpPr>
            <a:spLocks xmlns:a="http://schemas.openxmlformats.org/drawingml/2006/main" noGrp="1"/>
          </p:cNvSpPr>
          <p:nvPr/>
        </p:nvSpPr>
        <p:spPr>
          <a:xfrm xmlns:a="http://schemas.openxmlformats.org/drawingml/2006/main">
            <a:off x="2857500" y="1743075"/>
            <a:ext cx="8429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Warmth is already common. ElliQ and Joy for All also surface health research. Fari’s intended care role needs product-specific proof.</a:t>
            </a:r>
          </a:p>
        </p:txBody>
      </p:sp>
      <p:sp>
        <p:nvSpPr>
          <p:cNvPr id="6" name="">
            <a:extLst xmlns:a="http://schemas.openxmlformats.org/drawingml/2006/main">
              <a:ext uri="{FF2B5EF4-FFF2-40B4-BE49-F238E27FC236}">
                <a16:creationId xmlns:a16="http://schemas.microsoft.com/office/drawing/2014/main" id="{85A084E2-A221-4F65-BD2C-6AE88E913283}"/>
              </a:ext>
            </a:extLst>
          </p:cNvPr>
          <p:cNvSpPr>
            <a:spLocks xmlns:a="http://schemas.openxmlformats.org/drawingml/2006/main" noGrp="1"/>
          </p:cNvSpPr>
          <p:nvPr/>
        </p:nvSpPr>
        <p:spPr>
          <a:xfrm xmlns:a="http://schemas.openxmlformats.org/drawingml/2006/main">
            <a:off x="571500" y="31146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Senpai</a:t>
            </a:r>
          </a:p>
        </p:txBody>
      </p:sp>
      <p:sp>
        <p:nvSpPr>
          <p:cNvPr id="7" name="">
            <a:extLst xmlns:a="http://schemas.openxmlformats.org/drawingml/2006/main">
              <a:ext uri="{FF2B5EF4-FFF2-40B4-BE49-F238E27FC236}">
                <a16:creationId xmlns:a16="http://schemas.microsoft.com/office/drawing/2014/main" id="{52D356DB-A89C-4857-BCE9-230E390EE5D9}"/>
              </a:ext>
            </a:extLst>
          </p:cNvPr>
          <p:cNvSpPr>
            <a:spLocks xmlns:a="http://schemas.openxmlformats.org/drawingml/2006/main" noGrp="1"/>
          </p:cNvSpPr>
          <p:nvPr/>
        </p:nvSpPr>
        <p:spPr>
          <a:xfrm xmlns:a="http://schemas.openxmlformats.org/drawingml/2006/main">
            <a:off x="2857500" y="3076575"/>
            <a:ext cx="8429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Curriculum resources and teacher support already appear across this set. Broad “teacher empowerment” is not an empty position.</a:t>
            </a:r>
          </a:p>
        </p:txBody>
      </p:sp>
      <p:sp>
        <p:nvSpPr>
          <p:cNvPr id="8" name="">
            <a:extLst xmlns:a="http://schemas.openxmlformats.org/drawingml/2006/main">
              <a:ext uri="{FF2B5EF4-FFF2-40B4-BE49-F238E27FC236}">
                <a16:creationId xmlns:a16="http://schemas.microsoft.com/office/drawing/2014/main" id="{EF22B949-9A07-4BBA-916A-976018EFFFD4}"/>
              </a:ext>
            </a:extLst>
          </p:cNvPr>
          <p:cNvSpPr>
            <a:spLocks xmlns:a="http://schemas.openxmlformats.org/drawingml/2006/main" noGrp="1"/>
          </p:cNvSpPr>
          <p:nvPr/>
        </p:nvSpPr>
        <p:spPr>
          <a:xfrm xmlns:a="http://schemas.openxmlformats.org/drawingml/2006/main">
            <a:off x="571500" y="44481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37D87"/>
                </a:solidFill>
                <a:latin typeface="Arial"/>
                <a:ea typeface="Arial"/>
                <a:cs typeface="Arial"/>
              </a:defRPr>
            </a:pPr>
            <a:r>
              <a:rPr sz="1950" b="1">
                <a:solidFill>
                  <a:srgbClr val="137D87"/>
                </a:solidFill>
                <a:latin typeface="Arial"/>
                <a:ea typeface="Arial"/>
                <a:cs typeface="Arial"/>
              </a:rPr>
              <a:t>Aido Rover</a:t>
            </a:r>
          </a:p>
        </p:txBody>
      </p:sp>
      <p:sp>
        <p:nvSpPr>
          <p:cNvPr id="9" name="">
            <a:extLst xmlns:a="http://schemas.openxmlformats.org/drawingml/2006/main">
              <a:ext uri="{FF2B5EF4-FFF2-40B4-BE49-F238E27FC236}">
                <a16:creationId xmlns:a16="http://schemas.microsoft.com/office/drawing/2014/main" id="{6D9529DB-2A36-4271-AE16-7726BB40A29D}"/>
              </a:ext>
            </a:extLst>
          </p:cNvPr>
          <p:cNvSpPr>
            <a:spLocks xmlns:a="http://schemas.openxmlformats.org/drawingml/2006/main" noGrp="1"/>
          </p:cNvSpPr>
          <p:nvPr/>
        </p:nvSpPr>
        <p:spPr>
          <a:xfrm xmlns:a="http://schemas.openxmlformats.org/drawingml/2006/main">
            <a:off x="2857500" y="4410075"/>
            <a:ext cx="84296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849"/>
                </a:solidFill>
                <a:latin typeface="Arial"/>
                <a:ea typeface="Arial"/>
                <a:cs typeface="Arial"/>
              </a:defRPr>
            </a:pPr>
            <a:r>
              <a:rPr sz="1875" b="0">
                <a:solidFill>
                  <a:srgbClr val="183849"/>
                </a:solidFill>
                <a:latin typeface="Arial"/>
                <a:ea typeface="Arial"/>
                <a:cs typeface="Arial"/>
              </a:rPr>
              <a:t>Asylon, Cobalt and Knightscope already discuss human oversight. A generic human-control claim would not distinguish Rover.</a:t>
            </a:r>
          </a:p>
        </p:txBody>
      </p:sp>
      <p:sp>
        <p:nvSpPr>
          <p:cNvPr id="10" name="">
            <a:extLst xmlns:a="http://schemas.openxmlformats.org/drawingml/2006/main">
              <a:ext uri="{FF2B5EF4-FFF2-40B4-BE49-F238E27FC236}">
                <a16:creationId xmlns:a16="http://schemas.microsoft.com/office/drawing/2014/main" id="{8F823140-78B0-4386-A022-AC40A160645A}"/>
              </a:ext>
            </a:extLst>
          </p:cNvPr>
          <p:cNvSpPr>
            <a:spLocks xmlns:a="http://schemas.openxmlformats.org/drawingml/2006/main" noGrp="1"/>
          </p:cNvSpPr>
          <p:nvPr/>
        </p:nvSpPr>
        <p:spPr>
          <a:xfrm xmlns:a="http://schemas.openxmlformats.org/drawingml/2006/main">
            <a:off x="571500" y="5810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9751E"/>
                </a:solidFill>
                <a:latin typeface="Arial"/>
                <a:ea typeface="Arial"/>
                <a:cs typeface="Arial"/>
              </a:defRPr>
            </a:pPr>
            <a:r>
              <a:rPr sz="1800" b="1">
                <a:solidFill>
                  <a:srgbClr val="B9751E"/>
                </a:solidFill>
                <a:latin typeface="Arial"/>
                <a:ea typeface="Arial"/>
                <a:cs typeface="Arial"/>
              </a:rPr>
              <a:t>Next decision: approve the three concept assets for internal development, then validate understanding before publishing stronger claims.</a:t>
            </a:r>
          </a:p>
        </p:txBody>
      </p:sp>
    </p:spTree>
    <p:extLst>
      <p:ext uri="{BB962C8B-B14F-4D97-AF65-F5344CB8AC3E}">
        <p14:creationId xmlns:p14="http://schemas.microsoft.com/office/powerpoint/2010/main" val="150760575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2026-10-05T19:29:19.1760000Z</dcterms:created>
  <dcterms:modified xsi:type="dcterms:W3CDTF">2026-10-05T19:29:19.1760000Z</dcterms:modified>
</coreProperties>
</file>